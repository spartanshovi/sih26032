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4145c513f4fe0" /><Relationship Type="http://schemas.openxmlformats.org/officeDocument/2006/relationships/extended-properties" Target="/docProps/app.xml" Id="R51ba6f4370e64d11" /><Relationship Type="http://schemas.openxmlformats.org/officeDocument/2006/relationships/officeDocument" Target="/ppt/presentation.xml" Id="R8fea3e172154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1113f5451e49a6"/>
  </p:sldMasterIdLst>
  <p:notesMasterIdLst>
    <p:notesMasterId xmlns:r="http://schemas.openxmlformats.org/officeDocument/2006/relationships" r:id="R14703056b3574c99"/>
  </p:notesMasterIdLst>
  <p:sldIdLst>
    <p:sldId xmlns:r="http://schemas.openxmlformats.org/officeDocument/2006/relationships" id="256" r:id="R6e523992551541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1639c528d44c2" /><Relationship Type="http://schemas.openxmlformats.org/officeDocument/2006/relationships/slideMaster" Target="/ppt/slideMasters/slideMaster1.xml" Id="R241113f5451e49a6" /><Relationship Type="http://schemas.openxmlformats.org/officeDocument/2006/relationships/notesMaster" Target="/ppt/notesMasters/notesMaster1.xml" Id="R14703056b3574c99" /><Relationship Type="http://schemas.openxmlformats.org/officeDocument/2006/relationships/presProps" Target="/ppt/presProps.xml" Id="Rc87782894e044315" /><Relationship Type="http://schemas.openxmlformats.org/officeDocument/2006/relationships/tableStyles" Target="/ppt/tableStyles.xml" Id="Rf6a2f1e99c354b1d" /><Relationship Type="http://schemas.openxmlformats.org/officeDocument/2006/relationships/slide" Target="/ppt/slides/slide1.xml" Id="R6e5239925515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270d4b37e6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9869481a14481" /><Relationship Type="http://schemas.openxmlformats.org/officeDocument/2006/relationships/notesMaster" Target="/ppt/notesMasters/notesMaster1.xml" Id="R1ac17043741441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Smart India Hackathon problem statement 26032: https://sih.gov.in/sih2026PS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e-NAM official overview and farmer features: https://www.enam.gov.in/ and https://www.enam.gov.in/web/stakeholders-Involved/farmers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AgriStack Farmer Registry, UFSI, sandbox and consent architecture: https://agristack.gov.in/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PFMS DBT FAQ and external-system integration: https://pfms.nic.in/SitePages/doc/PFMS_DBT_FAQ.pdf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Digital Personal Data Protection Act 2023: https://www.meity.gov.in/writereaddata/files/Digital%20Personal%20Data%20Protection%20Act%202023.pdf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prototype evidence: docs/pitch_deck/FEATURE_VALIDATION_CURRENT_CODEBASE.md and docs/migration/LOAD-TEST-REPORT.md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ecosystem diagram avoids unsupported competitor exclusions. AnnSetu is positioned as a queue and coordination layer that complements existing trading, identity, payment and state procurement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5161ff1014f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7cc1660ab64a4e" /><Relationship Type="http://schemas.openxmlformats.org/officeDocument/2006/relationships/slideLayout" Target="/ppt/slideLayouts/slideLayout1.xml" Id="R68eb3acf22ad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b3acf22ad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584748ff04d6b" /><Relationship Type="http://schemas.openxmlformats.org/officeDocument/2006/relationships/image" Target="/ppt/media/image.png" Id="Rcf80f047c1dc415f" /><Relationship Type="http://schemas.openxmlformats.org/officeDocument/2006/relationships/notesSlide" Target="/ppt/notesSlides/notesSlide1.xml" Id="R27f34682cdbf42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1A3AE1-1B38-430F-9ADE-10C8986E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2875"/>
            <a:ext cx="1619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A5A9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3"/>
                </a:solidFill>
                <a:latin typeface="Arial"/>
                <a:ea typeface="Arial"/>
                <a:cs typeface="Arial"/>
              </a:rPr>
              <a:t>AnnSetu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68E97-731C-4128-B4CB-44FECD2E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333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RESEARCH AND REFERENCES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0f047c1dc415f"/>
          <a:stretch xmlns:a="http://schemas.openxmlformats.org/drawingml/2006/main"/>
        </p:blipFill>
        <p:spPr>
          <a:xfrm xmlns:a="http://schemas.openxmlformats.org/drawingml/2006/main">
            <a:off x="9993334" y="47625"/>
            <a:ext cx="1654132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949A5-B838-4FF0-9C8E-52B40EF7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F4C91"/>
          </a:solidFill>
          <a:ln xmlns:a="http://schemas.openxmlformats.org/drawingml/2006/main" w="0">
            <a:solidFill>
              <a:srgbClr val="6F4C9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0D527-7E7F-40EF-BDA6-8E217BF2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620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Official ecosystem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9A666-3980-47BB-86CE-A5D505E9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572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7A47"/>
          </a:solidFill>
          <a:ln xmlns:a="http://schemas.openxmlformats.org/drawingml/2006/main" w="0">
            <a:solidFill>
              <a:srgbClr val="247A4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FF220-5141-466A-A96C-F8516176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620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Current prototype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06F82-19A1-4EBE-BF21-57487941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575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C66"/>
          </a:solidFill>
          <a:ln xmlns:a="http://schemas.openxmlformats.org/drawingml/2006/main" w="19050">
            <a:solidFill>
              <a:srgbClr val="0D2F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5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AnnSetu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Queue and procurement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coordination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2C853-23D5-458B-8D0B-56645AD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466850"/>
            <a:ext cx="2028825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11430">
            <a:solidFill>
              <a:srgbClr val="6F4C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72D2D-0F79-4546-973E-0FFE321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81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91"/>
          </a:solidFill>
          <a:ln xmlns:a="http://schemas.openxmlformats.org/drawingml/2006/main" w="0">
            <a:solidFill>
              <a:srgbClr val="6F4C91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A15B7-5FDB-4FAE-A0F1-02B474D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335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SIH 26032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9931E-45F5-4ADF-9399-AC28AC90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62125"/>
            <a:ext cx="1438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1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Booking, queue and payment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92523-E48E-413C-9814-B2CF269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28875"/>
            <a:ext cx="15430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247A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6D8B8-C8A1-4FBB-91A1-540C635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43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7"/>
          </a:solidFill>
          <a:ln xmlns:a="http://schemas.openxmlformats.org/drawingml/2006/main" w="0">
            <a:solidFill>
              <a:srgbClr val="247A47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95FCD-6943-4BF8-8426-FCB713F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e-NAM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FC4EE-72C9-4F01-A9A5-238E431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1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Trading, lot progress and e-payments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0C540-02A8-4335-9B81-69818AEA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15430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27689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6D2A-2EB5-4C6F-9509-FCDD6B19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43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9D"/>
          </a:solidFill>
          <a:ln xmlns:a="http://schemas.openxmlformats.org/drawingml/2006/main" w="0">
            <a:solidFill>
              <a:srgbClr val="27689D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EA4D9-AA6F-4BEE-9088-88204DC4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95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AgriStack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63664-B785-4B94-A01B-B061C52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241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1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Farmer ID, UFSI and consent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82DC4-2626-4272-9C25-C30AB454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33875"/>
            <a:ext cx="16954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D977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4615B-ED27-4C6A-B2C5-8706C4D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48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0"/>
          </a:solidFill>
          <a:ln xmlns:a="http://schemas.openxmlformats.org/drawingml/2006/main" w="0">
            <a:solidFill>
              <a:srgbClr val="D97700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3B60A-F995-4B91-823F-C5487ED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PFMS / DBT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E6982-667B-4371-A92B-01DA7E04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1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Validation and settlement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D5A64-6EC1-433E-AF5F-362AF7AA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33875"/>
            <a:ext cx="16954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1781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96292-2920-491E-9A03-3BBA2BB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48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18A"/>
          </a:solidFill>
          <a:ln xmlns:a="http://schemas.openxmlformats.org/drawingml/2006/main" w="0">
            <a:solidFill>
              <a:srgbClr val="17818A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7E45A-D8E5-4E42-93F6-8C0D9B30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005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DPDP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A4C4CC-FB13-4A6E-97B1-37FE8D5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291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1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Consent, privacy and user rights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6ADD1-67E7-4122-ABB3-BEBE823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4029075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11430">
            <a:solidFill>
              <a:srgbClr val="C8B8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CF6046-1AC8-4076-8295-D370DD2B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3686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90" b="1">
                <a:solidFill>
                  <a:srgbClr val="6F4C91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6F4C91"/>
                </a:solidFill>
                <a:latin typeface="Arial"/>
                <a:ea typeface="Arial"/>
                <a:cs typeface="Arial"/>
              </a:rPr>
              <a:t>AnnSetu coordinates these systems through adapters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64611-B217-4FBD-A04D-86957F0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43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9D"/>
          </a:solidFill>
          <a:ln xmlns:a="http://schemas.openxmlformats.org/drawingml/2006/main" w="0">
            <a:solidFill>
              <a:srgbClr val="27689D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2AAD0-A4FA-4555-85E6-011F1005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66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Atomic booking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63D25-1FA6-44A9-9904-E341EAC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430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Capacity-safe transaction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DE5E6-13F9-439A-8B3F-CE7B249B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8597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ADBF8A-C644-4230-A66C-630DB744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7"/>
          </a:solidFill>
          <a:ln xmlns:a="http://schemas.openxmlformats.org/drawingml/2006/main" w="0">
            <a:solidFill>
              <a:srgbClr val="247A47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C940BB-3B71-4281-B5B3-B1E327A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66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Live queue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7B4352-C1B0-4789-A8EC-DB88795C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430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Position and wait estimate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42725-B6CE-4533-A4B4-E912A617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42E6F-D19E-47A3-8E3C-D6AE48F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0"/>
          </a:solidFill>
          <a:ln xmlns:a="http://schemas.openxmlformats.org/drawingml/2006/main" w="0">
            <a:solidFill>
              <a:srgbClr val="D97700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9F3EF8-EB10-497A-94D1-4F0DEF9C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669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Assisted access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D07D7F-C15E-4ACF-9033-8779B80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43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Mobile or token tracking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B44DEC-31F9-4ECD-A333-F9B8CA5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7BC5E3-C7AF-49BF-9EEA-B62D7F45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43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91"/>
          </a:solidFill>
          <a:ln xmlns:a="http://schemas.openxmlformats.org/drawingml/2006/main" w="0">
            <a:solidFill>
              <a:srgbClr val="6F4C91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942E80-D885-4E1D-8870-BB0546D5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669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Procurement journey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7EDCBA-264C-450E-9927-0EC26F9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Gate, weigh, inspect, decide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A71FD-0E73-479C-96CA-5342D46F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45D633-175A-471E-845F-C72C3EE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18A"/>
          </a:solidFill>
          <a:ln xmlns:a="http://schemas.openxmlformats.org/drawingml/2006/main" w="0">
            <a:solidFill>
              <a:srgbClr val="17818A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35E0C9-25BD-45E3-B956-60739D0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671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Payment policy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F0DDF0-9228-469D-A751-A5D4C31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433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DBT mock or assisted cash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E3C2E8-90BA-4CC6-A78A-56B7C41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8622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387204-61E8-491D-8E20-8D729C8B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B45"/>
          </a:solidFill>
          <a:ln xmlns:a="http://schemas.openxmlformats.org/drawingml/2006/main" w="0">
            <a:solidFill>
              <a:srgbClr val="A94B45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C24E32-972F-4046-8DF6-02568CB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71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Security and privacy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F0B2D6-F323-494A-83C4-8CD90B21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433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RBAC, masking and DPDP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20BF77-76F9-4B68-B490-AEB1759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8622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2CFF12-821C-47F9-9EA9-91E6CC0E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33900"/>
            <a:ext cx="61150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8DB8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FD3FF0-AFBA-4F69-993B-62A8AE1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1962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689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7689D"/>
                </a:solidFill>
                <a:latin typeface="Arial"/>
                <a:ea typeface="Arial"/>
                <a:cs typeface="Arial"/>
              </a:rPr>
              <a:t>LOAD-TEST EVIDENCE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144845-A827-4B03-B590-E365BCA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6858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7"/>
          </a:solidFill>
          <a:ln xmlns:a="http://schemas.openxmlformats.org/drawingml/2006/main" w="0">
            <a:solidFill>
              <a:srgbClr val="247A47"/>
            </a:solidFill>
          </a:ln>
        </p:spPr>
        <p:txBody>
          <a:bodyPr xmlns:a="http://schemas.openxmlformats.org/drawingml/2006/main" wrap="none" lIns="19050" tIns="0" rIns="19050" bIns="0" anchor="ctr">
            <a:normAutofit fontScale="954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A210C4-044A-452F-B1F9-DCC4601F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530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recorded scenarios passed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65097A-12C9-47E0-B581-DBF82444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6858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0"/>
          </a:solidFill>
          <a:ln xmlns:a="http://schemas.openxmlformats.org/drawingml/2006/main" w="0">
            <a:solidFill>
              <a:srgbClr val="D97700"/>
            </a:solidFill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 / 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DB908A-C680-4B92-8743-AAD24B4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attempts and one success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D59BDC-8684-4FF1-B1AA-BE3BC6F0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33950"/>
            <a:ext cx="6858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91"/>
          </a:solidFill>
          <a:ln xmlns:a="http://schemas.openxmlformats.org/drawingml/2006/main" w="0">
            <a:solidFill>
              <a:srgbClr val="6F4C91"/>
            </a:solidFill>
          </a:ln>
        </p:spPr>
        <p:txBody>
          <a:bodyPr xmlns:a="http://schemas.openxmlformats.org/drawingml/2006/main" wrap="none" lIns="19050" tIns="0" rIns="19050" bIns="0" anchor="ctr">
            <a:normAutofit fontScale="954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 / 50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B430E5-AE9B-4C17-82F8-71F12F34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distinct call-next claims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81B468-22CA-421B-8E4D-72D2A86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86450"/>
            <a:ext cx="11334750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E5A75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3E7E96-7B85-4F14-89DC-1201176D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53125"/>
            <a:ext cx="10934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854A00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854A00"/>
                </a:solidFill>
                <a:latin typeface="Arial"/>
                <a:ea typeface="Arial"/>
                <a:cs typeface="Arial"/>
              </a:rPr>
              <a:t>Demo boundary: AgriStack, Aadhaar, PFMS, state portals and communication gateways use simulations or fallback adapters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920A20-8563-441D-8A61-05AC081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53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3D5CA5-6A61-44CD-A418-DDA194BB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24600"/>
            <a:ext cx="1071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sih.gov.in   enam.gov.in   agristack.gov.in   pfms.nic.in   meity.gov.in   AnnSetu validation and load-test reports</a:t>
            </a:r>
          </a:p>
        </p:txBody>
      </p:sp>
    </p:spTree>
    <p:extLst>
      <p:ext uri="{BB962C8B-B14F-4D97-AF65-F5344CB8AC3E}">
        <p14:creationId xmlns:p14="http://schemas.microsoft.com/office/powerpoint/2010/main" val="1271826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2026-09-15T21:48:15.3070000Z</dcterms:created>
  <dcterms:modified xsi:type="dcterms:W3CDTF">2026-09-15T21:48:15.3070000Z</dcterms:modified>
</coreProperties>
</file>