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72d764304b4c70" /><Relationship Type="http://schemas.openxmlformats.org/officeDocument/2006/relationships/extended-properties" Target="/docProps/app.xml" Id="Ra913ed8f2218468b" /><Relationship Type="http://schemas.openxmlformats.org/officeDocument/2006/relationships/officeDocument" Target="/ppt/presentation.xml" Id="R490e0b7700fd4c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607f8e8da4a52"/>
  </p:sldMasterIdLst>
  <p:notesMasterIdLst>
    <p:notesMasterId xmlns:r="http://schemas.openxmlformats.org/officeDocument/2006/relationships" r:id="R2ea51546a9c9450d"/>
  </p:notesMasterIdLst>
  <p:sldIdLst>
    <p:sldId xmlns:r="http://schemas.openxmlformats.org/officeDocument/2006/relationships" id="256" r:id="Rac89415b595c47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58b935172d40e0" /><Relationship Type="http://schemas.openxmlformats.org/officeDocument/2006/relationships/slideMaster" Target="/ppt/slideMasters/slideMaster1.xml" Id="R1e3607f8e8da4a52" /><Relationship Type="http://schemas.openxmlformats.org/officeDocument/2006/relationships/notesMaster" Target="/ppt/notesMasters/notesMaster1.xml" Id="R2ea51546a9c9450d" /><Relationship Type="http://schemas.openxmlformats.org/officeDocument/2006/relationships/presProps" Target="/ppt/presProps.xml" Id="Ra80ed6585e554814" /><Relationship Type="http://schemas.openxmlformats.org/officeDocument/2006/relationships/tableStyles" Target="/ppt/tableStyles.xml" Id="R68e93c4caa8a457a" /><Relationship Type="http://schemas.openxmlformats.org/officeDocument/2006/relationships/slide" Target="/ppt/slides/slide1.xml" Id="Rac89415b595c47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729d65633c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917ba01f6847e7" /><Relationship Type="http://schemas.openxmlformats.org/officeDocument/2006/relationships/notesMaster" Target="/ppt/notesMasters/notesMaster1.xml" Id="R3049f9471fff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flow image represents the registered-farmer path. The added assisted path reflects the current code: center staff create the booking by phone, the farmer tracks by mobile or token without an account, and settlement is cash only because verified bank details were not collected.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architecture image is embedded from the user-supplied PNG. Version labels are visually masked. Identity, PFMS and translation labels are qualified as demo adapters or fallbacks rather than live government integrations.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docs/pitch_deck/FEATURE_VALIDATION_CURRENT_CODEBASE.md; apps/api/src/modules/booking/booking.controller.ts; apps/api/src/modules/queue/queue.service.ts; apps/api/src/modules/payments/payment-policy.ts; apps/web/src/screens/PublicBookingTracking.tsx; apps/web/src/screens/CenterDashboard.tsx.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sources: /Users/shubham/Downloads/AnnSetu System Architecture Flowchart.png; /Users/shubham/Downloads/WhatsApp Image 2026-09-15 at 13.29.58.jpeg.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a8040b4e7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aa0d2193c0414b" /><Relationship Type="http://schemas.openxmlformats.org/officeDocument/2006/relationships/slideLayout" Target="/ppt/slideLayouts/slideLayout1.xml" Id="Rbbda1a09076a48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da1a09076a48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c51b21e5346de" /><Relationship Type="http://schemas.openxmlformats.org/officeDocument/2006/relationships/image" Target="/ppt/media/image.png" Id="R25ed50af6b3f47ba" /><Relationship Type="http://schemas.openxmlformats.org/officeDocument/2006/relationships/image" Target="/ppt/media/image.jpeg" Id="Rbc977e9bcb9045ae" /><Relationship Type="http://schemas.openxmlformats.org/officeDocument/2006/relationships/image" Target="/ppt/media/image2.png" Id="R2c29ae05e0d44952" /><Relationship Type="http://schemas.openxmlformats.org/officeDocument/2006/relationships/notesSlide" Target="/ppt/notesSlides/notesSlide1.xml" Id="R40a7bb689ce045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EB68BA-5EF2-438F-8AD2-51CBB625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2875"/>
            <a:ext cx="1619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A5A9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3"/>
                </a:solidFill>
                <a:latin typeface="Arial"/>
                <a:ea typeface="Arial"/>
                <a:cs typeface="Arial"/>
              </a:rPr>
              <a:t>AnnSetu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EC9DA-7E8A-4452-AC66-8504EA91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d50af6b3f47ba"/>
          <a:stretch xmlns:a="http://schemas.openxmlformats.org/drawingml/2006/main"/>
        </p:blipFill>
        <p:spPr>
          <a:xfrm xmlns:a="http://schemas.openxmlformats.org/drawingml/2006/main">
            <a:off x="10002859" y="47625"/>
            <a:ext cx="1654132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D6761-0C1D-46A3-8E44-87226BD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2143125" cy="5457825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93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B955-226B-4719-85F5-1012375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971550"/>
            <a:ext cx="6543675" cy="5457825"/>
          </a:xfrm>
          <a:prstGeom xmlns:a="http://schemas.openxmlformats.org/drawingml/2006/main" prst="roundRect">
            <a:avLst>
              <a:gd name="adj" fmla="val 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78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4E6C5-7520-437D-BF5A-E9E498E9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71550"/>
            <a:ext cx="2438400" cy="5457825"/>
          </a:xfrm>
          <a:prstGeom xmlns:a="http://schemas.openxmlformats.org/drawingml/2006/main" prst="roundRect">
            <a:avLst>
              <a:gd name="adj" fmla="val 7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93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17A36-7904-446E-AC28-EF936EDD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20288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TECHNOLOGY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D7EA6-ACC1-4DDC-AD64-77D9F125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28700"/>
            <a:ext cx="426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SYSTEM FLOW  |  REGISTERED FARMER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E133F-AF3A-4631-8BF4-C752C29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28700"/>
            <a:ext cx="2324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IMPLEMENTATION 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91F69-054C-4B51-BF62-9E444C5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69250-ADC1-4DAD-806D-46E7124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192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2467A1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467A1"/>
                </a:solidFill>
                <a:latin typeface="Arial"/>
                <a:ea typeface="Arial"/>
                <a:cs typeface="Arial"/>
              </a:rPr>
              <a:t>Web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81191-ED6B-4DCF-A013-230896A5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668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Next.js, React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TanStack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39B31-CCDE-4E3F-B4C6-C3671918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336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83096-63E3-48B3-B3EC-D5B5802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955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5BAF9-0461-4A2D-816D-F9C6C6C5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API and realtime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FB61C-1987-4437-AB3F-661A819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NestJS, REST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Socket.IO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36AE9-8447-40E5-BF27-1F74825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43225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EBB6D-1321-458F-A131-170E1387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9F83F-046A-4B52-B448-CDFCCB3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267A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67A42"/>
                </a:solidFill>
                <a:latin typeface="Arial"/>
                <a:ea typeface="Arial"/>
                <a:cs typeface="Arial"/>
              </a:rPr>
              <a:t>Data and jobs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4D66B-40B6-4C07-8497-84D9AE61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PostgreSQL, Prisma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Redis, BullMQ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A82D6-B2F8-4287-80A5-BB89D92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5285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D6F45-21A8-4F60-97D7-57CA7DA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00"/>
          </a:solidFill>
          <a:ln xmlns:a="http://schemas.openxmlformats.org/drawingml/2006/main" w="0">
            <a:solidFill>
              <a:srgbClr val="E27600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D1513-5728-4283-8A97-33BE235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E2760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E27600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91DD-17C5-49BE-8142-B84199F3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JWT, RBAC, Argon2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Zod, audit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BDCC6-3C80-477E-AE36-47489EE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62475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D0485-ED43-4E0B-9CFD-14D724B7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28B"/>
          </a:solidFill>
          <a:ln xmlns:a="http://schemas.openxmlformats.org/drawingml/2006/main" w="0">
            <a:solidFill>
              <a:srgbClr val="15828B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14E92-B711-47D2-9BD8-3E8C57BA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5828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5828B"/>
                </a:solidFill>
                <a:latin typeface="Arial"/>
                <a:ea typeface="Arial"/>
                <a:cs typeface="Arial"/>
              </a:rPr>
              <a:t>Inclusive access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64828-2308-4790-B1CB-FFBBCC34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PWA, SMS, USSD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IVR and TTS simulation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F327B-5864-49C2-8A18-AEA15AF3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721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4C88D-A15E-4748-8415-F528B9DF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340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7A5"/>
          </a:solidFill>
          <a:ln xmlns:a="http://schemas.openxmlformats.org/drawingml/2006/main" w="0">
            <a:solidFill>
              <a:srgbClr val="6247A5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3278D-4E4A-40B3-85E1-24026656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6247A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6247A5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A238A-97B2-4C9E-A148-DF4C781B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pnpm monorepo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Docker Compose, CI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77e9bcb9045ae"/>
          <a:srcRect xmlns:a="http://schemas.openxmlformats.org/drawingml/2006/main" l="0" t="34512" r="0" b="3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350" y="1381125"/>
            <a:ext cx="6286500" cy="1095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52F38-2544-4372-AA80-0B49D1D2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613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E9AE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CBFD3-3055-4494-9240-74AF264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586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3" b="1">
                <a:solidFill>
                  <a:srgbClr val="8A4D00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8A4D00"/>
                </a:solidFill>
                <a:latin typeface="Arial"/>
                <a:ea typeface="Arial"/>
                <a:cs typeface="Arial"/>
              </a:rPr>
              <a:t>ASSISTED PATH   Center books by phone   Track with mobile or token   Cash settlement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E5B538-CD9C-4490-ABCD-5B2CBF8C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667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9ae05e0d44952"/>
          <a:stretch xmlns:a="http://schemas.openxmlformats.org/drawingml/2006/main"/>
        </p:blipFill>
        <p:spPr>
          <a:xfrm xmlns:a="http://schemas.openxmlformats.org/drawingml/2006/main">
            <a:off x="3151085" y="3171825"/>
            <a:ext cx="5585031" cy="31432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123CF8-37A6-4DC6-A118-17DA70F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48075"/>
            <a:ext cx="1028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84BF36-624D-43CF-9BAB-C036C26C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48075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Next.js PWA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F84E2-F3FE-471B-B0B7-6D453A4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F8E034-C678-486F-9B0D-77E9072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1533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3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NestJS platform core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7ECD5-769F-44C5-8F45-7B4BD558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6262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4B9436-FB32-4A07-8C7C-AC576E1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626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PostgreSQL + Prisma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B9C766-5043-4704-AB79-D0ED7C38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626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EF"/>
          </a:solidFill>
          <a:ln xmlns:a="http://schemas.openxmlformats.org/drawingml/2006/main" w="0">
            <a:solidFill>
              <a:srgbClr val="ECF7E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0B8E1E-050E-40B5-AAB0-A5CA3A99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62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3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B930C-95DB-4897-8E9F-796A7DBD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6262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A"/>
          </a:solidFill>
          <a:ln xmlns:a="http://schemas.openxmlformats.org/drawingml/2006/main" w="0">
            <a:solidFill>
              <a:srgbClr val="F1EDF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2EB134-D45E-4B83-8D3F-F6588505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62625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3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BullMQ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A7AA7C-A79F-4997-B1FB-3CAD86EF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809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9CFECB-2A09-4759-AC5B-1D7ABA19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80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Identity demo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52BF71-E5C1-4C3F-9EDA-6EBBC3D8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809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936A21-E753-4A02-8485-5D22D5A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80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PFMS payment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mock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B4CC3E-75B1-422A-A3A8-D6F38F1B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80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E837E8-324A-4B6F-8131-30B4FF42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Translation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CBDB3F-7B61-4CC7-82E7-CF76BAF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46685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7EE"/>
          </a:solidFill>
          <a:ln xmlns:a="http://schemas.openxmlformats.org/drawingml/2006/main" w="11430">
            <a:solidFill>
              <a:srgbClr val="A6CFB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35C0D8-1918-4FE7-9D41-FD735FD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83D44B-C411-46B8-AF0B-796E54D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58115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67A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42"/>
                </a:solidFill>
                <a:latin typeface="Arial"/>
                <a:ea typeface="Arial"/>
                <a:cs typeface="Arial"/>
              </a:rPr>
              <a:t>FARMER ACCESS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593A7B-C225-43BF-BAC8-EE2D3BA4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Login or assisted booking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Choose center and slot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Track by account, mobile or token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View queue, lot and payment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47CDD1-B709-45ED-90EE-309D30EE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4800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F0BD7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B98C72-30DE-4BCD-8A8C-6201CE8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00"/>
          </a:solidFill>
          <a:ln xmlns:a="http://schemas.openxmlformats.org/drawingml/2006/main" w="0">
            <a:solidFill>
              <a:srgbClr val="E276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C2C042-F311-4C71-B761-3C67B6CB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6230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27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7600"/>
                </a:solidFill>
                <a:latin typeface="Arial"/>
                <a:ea typeface="Arial"/>
                <a:cs typeface="Arial"/>
              </a:rPr>
              <a:t>CENTER OPERATIONS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B8697B-E022-4AEE-88D5-CD38FB8C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Plan slots and assist bookings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Call next, gate entry, weigh and inspect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Accept or reject the lot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DBT for registered, cash for assisted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96DAA4-6056-45CE-B347-FA1DEF10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2915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A8C9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AADDA9-36CA-4140-8672-17E2D87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52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66F137-06C9-4E20-B250-78CEA0C2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74345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67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67A1"/>
                </a:solidFill>
                <a:latin typeface="Arial"/>
                <a:ea typeface="Arial"/>
                <a:cs typeface="Arial"/>
              </a:rPr>
              <a:t>ADMIN AND GOVERNANCE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9C80EA-EC7D-4444-9707-82F351B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Manage centers, MSP and commodities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Forecast demand and rebalance capacity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Review KPIs, audits and failed jobs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Handle consent withdrawal and erasure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1D2A5C-E159-4F7A-894D-2DD2C66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11391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65" b="0">
                <a:solidFill>
                  <a:srgbClr val="687A8B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687A8B"/>
                </a:solidFill>
                <a:latin typeface="Arial"/>
                <a:ea typeface="Arial"/>
                <a:cs typeface="Arial"/>
              </a:rPr>
              <a:t>Government and communication integrations use adapter-ready simulations in the SIH demo</a:t>
            </a:r>
          </a:p>
        </p:txBody>
      </p:sp>
    </p:spTree>
    <p:extLst>
      <p:ext uri="{BB962C8B-B14F-4D97-AF65-F5344CB8AC3E}">
        <p14:creationId xmlns:p14="http://schemas.microsoft.com/office/powerpoint/2010/main" val="552960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2026-09-15T20:13:45.7080000Z</dcterms:created>
  <dcterms:modified xsi:type="dcterms:W3CDTF">2026-09-15T20:13:45.7080000Z</dcterms:modified>
</coreProperties>
</file>