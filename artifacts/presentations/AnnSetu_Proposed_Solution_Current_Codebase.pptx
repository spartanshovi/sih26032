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e208734bdb4e1e" /><Relationship Type="http://schemas.openxmlformats.org/officeDocument/2006/relationships/extended-properties" Target="/docProps/app.xml" Id="R1d34f182741641b2" /><Relationship Type="http://schemas.openxmlformats.org/officeDocument/2006/relationships/officeDocument" Target="/ppt/presentation.xml" Id="R9d355d75d73b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35e4059ee1473d"/>
  </p:sldMasterIdLst>
  <p:notesMasterIdLst>
    <p:notesMasterId xmlns:r="http://schemas.openxmlformats.org/officeDocument/2006/relationships" r:id="R48456ab7527f4f8a"/>
  </p:notesMasterIdLst>
  <p:sldIdLst>
    <p:sldId xmlns:r="http://schemas.openxmlformats.org/officeDocument/2006/relationships" id="256" r:id="R9ad99de28ab149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17a63db52c494d" /><Relationship Type="http://schemas.openxmlformats.org/officeDocument/2006/relationships/slideMaster" Target="/ppt/slideMasters/slideMaster1.xml" Id="Ra735e4059ee1473d" /><Relationship Type="http://schemas.openxmlformats.org/officeDocument/2006/relationships/notesMaster" Target="/ppt/notesMasters/notesMaster1.xml" Id="R48456ab7527f4f8a" /><Relationship Type="http://schemas.openxmlformats.org/officeDocument/2006/relationships/presProps" Target="/ppt/presProps.xml" Id="R8d7f9daf42dd46a3" /><Relationship Type="http://schemas.openxmlformats.org/officeDocument/2006/relationships/tableStyles" Target="/ppt/tableStyles.xml" Id="R1e956cc22a7a4a44" /><Relationship Type="http://schemas.openxmlformats.org/officeDocument/2006/relationships/slide" Target="/ppt/slides/slide1.xml" Id="R9ad99de28ab1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508c8c7a8547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68fc25ba9d4d7a" /><Relationship Type="http://schemas.openxmlformats.org/officeDocument/2006/relationships/notesMaster" Target="/ppt/notesMasters/notesMaster1.xml" Id="Rdbecf06dab644e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cue: AnnSetu closes the visibility gap after a token is issued. It combines capacity-safe booking, assisted access and live queue tracking with an auditable procurement-to-payment journey.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cue: first show assistant booking from the centre console, then open the public tracker and search using the generated phone number or token. Continue through queue, procurement stages and the cash-only settlement rule for assistant bookings.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docs/pitch_deck/FEATURE_VALIDATION_CURRENT_CODEBASE.md; apps/web/src/screens/PublicBookingTracking.tsx; apps/web/src/screens/CenterDashboard.tsx; apps/api/src/modules/booking/booking.controller.ts; apps/api/src/modules/queue/queue.service.ts; apps/api/src/modules/payments/payment-policy.ts.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Qualification: AgriStack, Aadhaar, PFMS/DBT, SMS, USSD, IVR and state-portal connections are adapter-ready simulations or fallbacks in the current demo, not live government integrations.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561947b234c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9beb9dd79445b1" /><Relationship Type="http://schemas.openxmlformats.org/officeDocument/2006/relationships/slideLayout" Target="/ppt/slideLayouts/slideLayout1.xml" Id="R6aef087b05ef4a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ef087b05ef4a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4e23dcf304491" /><Relationship Type="http://schemas.openxmlformats.org/officeDocument/2006/relationships/image" Target="/ppt/media/image.png" Id="R30fb7cf59e48487e" /><Relationship Type="http://schemas.openxmlformats.org/officeDocument/2006/relationships/notesSlide" Target="/ppt/notesSlides/notesSlide1.xml" Id="Rb0fb2aca1f7a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7CA606E-665D-45EF-A8B8-4F47A5FE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15811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76548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3"/>
                </a:solidFill>
                <a:latin typeface="Arial"/>
                <a:ea typeface="Arial"/>
                <a:cs typeface="Arial"/>
              </a:rPr>
              <a:t>AnnSetu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74099-56A8-4DDE-85D9-916D24E4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Farmer Procurement &amp; Live Queue Platform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b7cf59e48487e"/>
          <a:stretch xmlns:a="http://schemas.openxmlformats.org/drawingml/2006/main"/>
        </p:blipFill>
        <p:spPr>
          <a:xfrm xmlns:a="http://schemas.openxmlformats.org/drawingml/2006/main">
            <a:off x="10007622" y="66675"/>
            <a:ext cx="1654132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A8CDD-ED80-40A0-97FD-1EA71F9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971550"/>
            <a:ext cx="209550" cy="209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5B91"/>
          </a:solidFill>
          <a:ln xmlns:a="http://schemas.openxmlformats.org/drawingml/2006/main" w="0">
            <a:solidFill>
              <a:srgbClr val="285B9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D1134-4E8F-447C-B673-8354BDF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57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85B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5B91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CCAD5-3FDC-4C7B-AD61-D0CAC291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04925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85B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F0A8C-FA5C-416F-977E-45DA20D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543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285B9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5B9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5B9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0815C-EF44-45D6-8F83-92E7A937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Capacity-aware slot booking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D4232-9382-4A99-9C4D-6728E962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4619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05" b="0">
                <a:solidFill>
                  <a:srgbClr val="4E6278"/>
                </a:solidFill>
                <a:latin typeface="Arial"/>
                <a:ea typeface="Arial"/>
                <a:cs typeface="Arial"/>
              </a:defRPr>
            </a:pPr>
            <a:r>
              <a:rPr sz="1005" b="0">
                <a:solidFill>
                  <a:srgbClr val="4E6278"/>
                </a:solidFill>
                <a:latin typeface="Arial"/>
                <a:ea typeface="Arial"/>
                <a:cs typeface="Arial"/>
              </a:rPr>
              <a:t>Atomic booking prevents over-capacity and binds every token to its centre, date and slot.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8A26A-2AD1-4B09-8F9C-4BFA096A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5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B36BC-8F81-43A4-A8CC-274EC449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237A4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7A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7A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8C732-2A73-4E61-A974-9362EF1D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Assistant booking + no-login tracking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AB08A-9E21-4D17-B6C1-C5BC56A4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619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05" b="0">
                <a:solidFill>
                  <a:srgbClr val="4E6278"/>
                </a:solidFill>
                <a:latin typeface="Arial"/>
                <a:ea typeface="Arial"/>
                <a:cs typeface="Arial"/>
              </a:defRPr>
            </a:pPr>
            <a:r>
              <a:rPr sz="1005" b="0">
                <a:solidFill>
                  <a:srgbClr val="4E6278"/>
                </a:solidFill>
                <a:latin typeface="Arial"/>
                <a:ea typeface="Arial"/>
                <a:cs typeface="Arial"/>
              </a:rPr>
              <a:t>Centre staff can book by phone; farmers track the full journey using mobile or token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88A82-9185-4A9F-AA3B-AA237C16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5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F9FF8-5657-42C4-B4DD-06955428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285B9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5B9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5B9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9B2DB-6DBD-48C5-88AC-22E2BE20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Live queue with explainable 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B1786-BEC8-4B7C-AB10-CD3E6227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619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05" b="0">
                <a:solidFill>
                  <a:srgbClr val="4E6278"/>
                </a:solidFill>
                <a:latin typeface="Arial"/>
                <a:ea typeface="Arial"/>
                <a:cs typeface="Arial"/>
              </a:defRPr>
            </a:pPr>
            <a:r>
              <a:rPr sz="1005" b="0">
                <a:solidFill>
                  <a:srgbClr val="4E6278"/>
                </a:solidFill>
                <a:latin typeface="Arial"/>
                <a:ea typeface="Arial"/>
                <a:cs typeface="Arial"/>
              </a:rPr>
              <a:t>Shows farmers ahead, current token and wait estimate from rolling service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B451B-6651-4B8E-A76C-75AC95D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5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D6D42-43B7-43AA-AC09-8AD235A0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886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237A4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7A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7A4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0654F-619C-487B-88B9-85A8808F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Eight-stage procurement journey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3582A-D7CE-4BEC-86B8-2D9B0713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619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05" b="0">
                <a:solidFill>
                  <a:srgbClr val="4E6278"/>
                </a:solidFill>
                <a:latin typeface="Arial"/>
                <a:ea typeface="Arial"/>
                <a:cs typeface="Arial"/>
              </a:defRPr>
            </a:pPr>
            <a:r>
              <a:rPr sz="1005" b="0">
                <a:solidFill>
                  <a:srgbClr val="4E6278"/>
                </a:solidFill>
                <a:latin typeface="Arial"/>
                <a:ea typeface="Arial"/>
                <a:cs typeface="Arial"/>
              </a:rPr>
              <a:t>Tracks booking, arrival, verification, quality, acceptance, procurement, processing and payment.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B1FDD-D05C-4CD3-89F6-32738B13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5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1553E-33BE-445B-9CA4-E3C9CDB6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67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285B9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5B9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5B9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4301F-8A0A-45C1-96E2-224F27EC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Inclusive multilingual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BCBBC9-B162-42C0-9A73-C5597E25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4619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05" b="0">
                <a:solidFill>
                  <a:srgbClr val="4E6278"/>
                </a:solidFill>
                <a:latin typeface="Arial"/>
                <a:ea typeface="Arial"/>
                <a:cs typeface="Arial"/>
              </a:defRPr>
            </a:pPr>
            <a:r>
              <a:rPr sz="1005" b="0">
                <a:solidFill>
                  <a:srgbClr val="4E6278"/>
                </a:solidFill>
                <a:latin typeface="Arial"/>
                <a:ea typeface="Arial"/>
                <a:cs typeface="Arial"/>
              </a:rPr>
              <a:t>Mobile PWA with simulated SMS, USSD, IVR and browser text-to-speech fallbacks.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518D15-0897-416A-AB20-34FDB0E5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5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E96C5-48BA-44F4-9F13-3BF06575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48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237A4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7A4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7A4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D1062-4785-4377-B688-9367B2D5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Transparent, policy-aware settlement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56916-6F43-403B-AC4B-8078C7AA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4619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005" b="0">
                <a:solidFill>
                  <a:srgbClr val="4E6278"/>
                </a:solidFill>
                <a:latin typeface="Arial"/>
                <a:ea typeface="Arial"/>
                <a:cs typeface="Arial"/>
              </a:defRPr>
            </a:pPr>
            <a:r>
              <a:rPr sz="1005" b="0">
                <a:solidFill>
                  <a:srgbClr val="4E6278"/>
                </a:solidFill>
                <a:latin typeface="Arial"/>
                <a:ea typeface="Arial"/>
                <a:cs typeface="Arial"/>
              </a:rPr>
              <a:t>PFMS/DBT-compatible mock for registered farmers; assistant bookings receive cash only.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A6EEFA-0FB9-46B5-A962-39DE20A3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62025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SMART FARMER PROCUREMENT SOLUTION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A85E58-8016-4D77-98C9-F1AB2AFF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049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A94442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A94442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46DCB1-B3A7-43D3-9007-6F0F520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37A4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37A4B"/>
                </a:solidFill>
                <a:latin typeface="Arial"/>
                <a:ea typeface="Arial"/>
                <a:cs typeface="Arial"/>
              </a:rPr>
              <a:t>ANNSETU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C0A1C3-B9B0-4B5B-8EA7-D3C87E22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3049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76548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76548D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77DE16-4C71-4FAB-8868-6EDDE4F6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90675"/>
            <a:ext cx="1638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1430">
            <a:solidFill>
              <a:srgbClr val="DCA3A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13BD6B-CBCE-4276-BDD8-81215802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3830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Over-capacity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centres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94CBAD-855E-447F-A10C-CBEABAA9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790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4442"/>
          </a:solidFill>
          <a:ln xmlns:a="http://schemas.openxmlformats.org/drawingml/2006/main" w="0">
            <a:solidFill>
              <a:srgbClr val="A9444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79DA4D-EEC8-4022-9D3A-73AF8925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90675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91C5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6B2BB5-9866-4E98-803E-4D4152A0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383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Atomic capacity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slots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CF971E-39FC-402D-B2D1-117B90C8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7A4B"/>
          </a:solidFill>
          <a:ln xmlns:a="http://schemas.openxmlformats.org/drawingml/2006/main" w="0">
            <a:solidFill>
              <a:srgbClr val="237A4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896AC6-BEF2-4200-B28A-2C2602BA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590675"/>
            <a:ext cx="1657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EDF8"/>
          </a:solidFill>
          <a:ln xmlns:a="http://schemas.openxmlformats.org/drawingml/2006/main" w="11430">
            <a:solidFill>
              <a:srgbClr val="B9A1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CFB783-75A2-49BC-AFCD-8859C49A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6383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Controlled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arrivals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BE1783-9BEE-432B-AE1F-D11A53F1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1638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1430">
            <a:solidFill>
              <a:srgbClr val="DCA3A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0793DB-859F-43EC-8E20-D62EA5E3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Blind queue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waiting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759CF3-8B61-4EC4-A2FB-4E08704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52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4442"/>
          </a:solidFill>
          <a:ln xmlns:a="http://schemas.openxmlformats.org/drawingml/2006/main" w="0">
            <a:solidFill>
              <a:srgbClr val="A9444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214CC5-93E4-4183-B723-011E085D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91C5A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32BC6A-8A8A-4C84-87F2-312ABF2E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003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Live position 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rolling ETA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7D3033-E986-41C9-9884-50744DB8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7A4B"/>
          </a:solidFill>
          <a:ln xmlns:a="http://schemas.openxmlformats.org/drawingml/2006/main" w="0">
            <a:solidFill>
              <a:srgbClr val="237A4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F23531-5A4B-4230-A4A4-6DDAB1CE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352675"/>
            <a:ext cx="1657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EDF8"/>
          </a:solidFill>
          <a:ln xmlns:a="http://schemas.openxmlformats.org/drawingml/2006/main" w="11430">
            <a:solidFill>
              <a:srgbClr val="B9A1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CD2479-5896-4966-835F-DC20FEDC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003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Predictable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visit timing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359C4D-B302-44C5-8CFC-9D424927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14675"/>
            <a:ext cx="1638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1430">
            <a:solidFill>
              <a:srgbClr val="DCA3A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565B8F-B723-4EAA-84FB-EBA9D2B8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Account and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smartphone barrier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4A527D-9198-409E-8B13-CBF7A24E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314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4442"/>
          </a:solidFill>
          <a:ln xmlns:a="http://schemas.openxmlformats.org/drawingml/2006/main" w="0">
            <a:solidFill>
              <a:srgbClr val="A94442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C6547A-04B6-4FAF-9465-15B5B5D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14675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91C5A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5CD453-D759-4CDE-A3B6-89B5D63E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623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Assisted booking 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phone/token tracking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026C44-1987-48FC-B6E4-BC879BA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7A4B"/>
          </a:solidFill>
          <a:ln xmlns:a="http://schemas.openxmlformats.org/drawingml/2006/main" w="0">
            <a:solidFill>
              <a:srgbClr val="237A4B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A3E3DC-E871-4742-8B8E-80986AC4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114675"/>
            <a:ext cx="1657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EDF8"/>
          </a:solidFill>
          <a:ln xmlns:a="http://schemas.openxmlformats.org/drawingml/2006/main" w="11430">
            <a:solidFill>
              <a:srgbClr val="B9A1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30BC8D-5864-49BD-B3B6-DF81BEA8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623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No account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24D73C-34BF-4373-8ABC-CC7CCCD8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76675"/>
            <a:ext cx="1638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1430">
            <a:solidFill>
              <a:srgbClr val="DCA3A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3A9762-1605-46EC-A931-AC637364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2430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Fragmented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39986C-E488-429F-B854-71ACD837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76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4442"/>
          </a:solidFill>
          <a:ln xmlns:a="http://schemas.openxmlformats.org/drawingml/2006/main" w="0">
            <a:solidFill>
              <a:srgbClr val="A9444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971541-F94C-431F-B37F-FC54A881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76675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91C5A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0840ED-5F03-4B1A-82CF-3AB3459C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243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Eight-stage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journey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0DDE8A-F3CB-402B-947C-F99D0E7D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76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7A4B"/>
          </a:solidFill>
          <a:ln xmlns:a="http://schemas.openxmlformats.org/drawingml/2006/main" w="0">
            <a:solidFill>
              <a:srgbClr val="237A4B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815BC9-110A-4AF6-89AD-AA2516C0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876675"/>
            <a:ext cx="1657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EDF8"/>
          </a:solidFill>
          <a:ln xmlns:a="http://schemas.openxmlformats.org/drawingml/2006/main" w="11430">
            <a:solidFill>
              <a:srgbClr val="B9A1C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3D8580-7AB0-4754-8F85-3E99984D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243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End-to-end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visibility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B10EF8-77E6-4ABB-963A-900738CF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38675"/>
            <a:ext cx="1638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1430">
            <a:solidFill>
              <a:srgbClr val="DCA3A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E33BEB5-E530-46ED-A743-DA345855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8630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Unclear payment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01D630-4F01-45FB-B2CD-A999A2E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38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94442"/>
          </a:solidFill>
          <a:ln xmlns:a="http://schemas.openxmlformats.org/drawingml/2006/main" w="0">
            <a:solidFill>
              <a:srgbClr val="A94442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69DE35-1A46-4890-921B-1C9C67C2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38675"/>
            <a:ext cx="180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91C5A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7B68B4-9702-4F81-B3EA-9D2D12E2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6863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DBT simulator 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cash-only rule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0DA57F-0AF2-4433-BFCA-47941A5B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387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7A4B"/>
          </a:solidFill>
          <a:ln xmlns:a="http://schemas.openxmlformats.org/drawingml/2006/main" w="0">
            <a:solidFill>
              <a:srgbClr val="237A4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0B37F4-85E3-4C0B-A481-19BF5756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638675"/>
            <a:ext cx="1657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EDF8"/>
          </a:solidFill>
          <a:ln xmlns:a="http://schemas.openxmlformats.org/drawingml/2006/main" w="11430">
            <a:solidFill>
              <a:srgbClr val="B9A1C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F8AA736-5F7A-4B59-933E-FC95818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863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Correct payout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38C7E4-4FE5-4A58-88B9-336332CE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34025"/>
            <a:ext cx="58578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8CB7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17FB1A-4638-4442-87F2-34C4420A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6197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285B9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85B91"/>
                </a:solidFill>
                <a:latin typeface="Arial"/>
                <a:ea typeface="Arial"/>
                <a:cs typeface="Arial"/>
              </a:rPr>
              <a:t>CONCURRENCY PROOF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3CC443-5CEF-47CF-9A14-36FE5646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819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433"/>
                </a:solidFill>
                <a:latin typeface="Arial"/>
                <a:ea typeface="Arial"/>
                <a:cs typeface="Arial"/>
              </a:rPr>
              <a:t>50 simultaneous attempts for one slot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EB5E174-ACD9-4C0C-8ABD-860BAC4D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676900"/>
            <a:ext cx="29146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C66"/>
          </a:solidFill>
          <a:ln xmlns:a="http://schemas.openxmlformats.org/drawingml/2006/main" w="0">
            <a:solidFill>
              <a:srgbClr val="173C66"/>
            </a:solidFill>
          </a:ln>
        </p:spPr>
        <p:txBody>
          <a:bodyPr xmlns:a="http://schemas.openxmlformats.org/drawingml/2006/main" lIns="1143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Exactly 1 successful booking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FF4205-D45B-451C-9612-109FF0F4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77000"/>
            <a:ext cx="1158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0">
                <a:solidFill>
                  <a:srgbClr val="66798C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98C"/>
                </a:solidFill>
                <a:latin typeface="Arial"/>
                <a:ea typeface="Arial"/>
                <a:cs typeface="Arial"/>
              </a:rPr>
              <a:t>Current-codebase claims only  |  Government connectors and communication gateways are simulated for the SIH demo</a:t>
            </a:r>
          </a:p>
        </p:txBody>
      </p:sp>
    </p:spTree>
    <p:extLst>
      <p:ext uri="{BB962C8B-B14F-4D97-AF65-F5344CB8AC3E}">
        <p14:creationId xmlns:p14="http://schemas.microsoft.com/office/powerpoint/2010/main" val="204031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2026-09-15T19:45:58.4410000Z</dcterms:created>
  <dcterms:modified xsi:type="dcterms:W3CDTF">2026-09-15T19:45:58.4410000Z</dcterms:modified>
</coreProperties>
</file>