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0d6128e6a84a7e" /><Relationship Type="http://schemas.openxmlformats.org/officeDocument/2006/relationships/extended-properties" Target="/docProps/app.xml" Id="R1be6743a6ba64eb0" /><Relationship Type="http://schemas.openxmlformats.org/officeDocument/2006/relationships/officeDocument" Target="/ppt/presentation.xml" Id="R51268dc9be5f48c9" /></Relationships>
</file>

<file path=ppt/presentation.xml><?xml version="1.0" encoding="utf-8"?>
<p:presentation xmlns:p="http://schemas.openxmlformats.org/presentationml/2006/main">
  <p:sldMasterIdLst>
    <p:sldMasterId xmlns:r="http://schemas.openxmlformats.org/officeDocument/2006/relationships" id="2147483648" r:id="R11afea1521cf4007"/>
  </p:sldMasterIdLst>
  <p:notesMasterIdLst>
    <p:notesMasterId xmlns:r="http://schemas.openxmlformats.org/officeDocument/2006/relationships" r:id="R182d321ac8fa4745"/>
  </p:notesMasterIdLst>
  <p:sldIdLst>
    <p:sldId xmlns:r="http://schemas.openxmlformats.org/officeDocument/2006/relationships" id="256" r:id="Reb8abe0a00da4a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96a1cea5854aa9" /><Relationship Type="http://schemas.openxmlformats.org/officeDocument/2006/relationships/slideMaster" Target="/ppt/slideMasters/slideMaster1.xml" Id="R11afea1521cf4007" /><Relationship Type="http://schemas.openxmlformats.org/officeDocument/2006/relationships/notesMaster" Target="/ppt/notesMasters/notesMaster1.xml" Id="R182d321ac8fa4745" /><Relationship Type="http://schemas.openxmlformats.org/officeDocument/2006/relationships/presProps" Target="/ppt/presProps.xml" Id="Rdee3ee89802449b9" /><Relationship Type="http://schemas.openxmlformats.org/officeDocument/2006/relationships/tableStyles" Target="/ppt/tableStyles.xml" Id="Rf52e9bb861494e64" /><Relationship Type="http://schemas.openxmlformats.org/officeDocument/2006/relationships/slide" Target="/ppt/slides/slide1.xml" Id="Reb8abe0a00da4a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008a72b3a54e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07730174824731" /><Relationship Type="http://schemas.openxmlformats.org/officeDocument/2006/relationships/notesMaster" Target="/ppt/notesMasters/notesMaster1.xml" Id="R6bb6aec2ae4048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cue: The current AnnSetu implementation uses a single pnpm monorepo with a Next.js PWA and a NestJS platform core. PostgreSQL handles transactional records, Redis supports cache, rate limits and realtime distribution, and BullMQ processes outbox jobs with retry and dead-letter handling.</a:t>
            </a:r>
          </a:p>
          <a:p xmlns:a="http://schemas.openxmlformats.org/drawingml/2006/main">
            <a:r>
              <a:t/>
            </a:r>
          </a:p>
          <a:p xmlns:a="http://schemas.openxmlformats.org/drawingml/2006/main">
            <a:r>
              <a:t>Farmer journey: capacity planning, login or assisted verification, atomic slot booking, queue tracking, gate entry, weighing and quality inspection, lot decision, then settlement. Assisted bookings can be tracked without an account using the mobile or token number.</a:t>
            </a:r>
          </a:p>
          <a:p xmlns:a="http://schemas.openxmlformats.org/drawingml/2006/main">
            <a:r>
              <a:t/>
            </a:r>
          </a:p>
          <a:p xmlns:a="http://schemas.openxmlformats.org/drawingml/2006/main">
            <a:r>
              <a:t>Payment rule: registered farmers may follow the PFMS/DBT-compatible simulated path. Assistant bookings do not collect verified bank details and therefore allow cash settlement only.</a:t>
            </a:r>
          </a:p>
          <a:p xmlns:a="http://schemas.openxmlformats.org/drawingml/2006/main">
            <a:r>
              <a:t/>
            </a:r>
          </a:p>
          <a:p xmlns:a="http://schemas.openxmlformats.org/drawingml/2006/main">
            <a:r>
              <a:t>Evidence: docs/pitch_deck/FEATURE_VALIDATION_CURRENT_CODEBASE.md; apps/web/package.json; apps/api/package.json; apps/api/src/modules/booking/booking.controller.ts; apps/api/src/modules/queue/queue.service.ts; apps/api/src/modules/payments/payment-policy.ts; apps/web/src/screens/PublicBookingTracking.tsx; apps/web/src/screens/CenterDashboard.tsx.</a:t>
            </a:r>
          </a:p>
          <a:p xmlns:a="http://schemas.openxmlformats.org/drawingml/2006/main">
            <a:r>
              <a:t/>
            </a:r>
          </a:p>
          <a:p xmlns:a="http://schemas.openxmlformats.org/drawingml/2006/main">
            <a:r>
              <a:t>Qualification: government, SMS, USSD, IVR and translation integrations use adapter-ready mocks or local fallbacks in the SIH demo. No version numbers appear on the slide by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bdda0c182b4d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3b7b09ae3d4781" /><Relationship Type="http://schemas.openxmlformats.org/officeDocument/2006/relationships/slideLayout" Target="/ppt/slideLayouts/slideLayout1.xml" Id="R6f21e35dbee448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21e35dbee448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8b0bf7d64d458c" /><Relationship Type="http://schemas.openxmlformats.org/officeDocument/2006/relationships/image" Target="/ppt/media/image.png" Id="Rd4ac75b20c0847c3" /><Relationship Type="http://schemas.openxmlformats.org/officeDocument/2006/relationships/notesSlide" Target="/ppt/notesSlides/notesSlide1.xml" Id="Re2e9e0ac439a4e3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 name="">
            <a:extLst xmlns:a="http://schemas.openxmlformats.org/drawingml/2006/main">
              <a:ext uri="{FF2B5EF4-FFF2-40B4-BE49-F238E27FC236}">
                <a16:creationId xmlns:a16="http://schemas.microsoft.com/office/drawing/2014/main" id="{032E14FF-1AAD-4E58-BE5C-4C3C5333856D}"/>
              </a:ext>
            </a:extLst>
          </p:cNvPr>
          <p:cNvSpPr>
            <a:spLocks xmlns:a="http://schemas.openxmlformats.org/drawingml/2006/main" noGrp="1"/>
          </p:cNvSpPr>
          <p:nvPr/>
        </p:nvSpPr>
        <p:spPr>
          <a:xfrm xmlns:a="http://schemas.openxmlformats.org/drawingml/2006/main">
            <a:off x="295275" y="142875"/>
            <a:ext cx="1619250" cy="552450"/>
          </a:xfrm>
          <a:prstGeom xmlns:a="http://schemas.openxmlformats.org/drawingml/2006/main" prst="ellipse">
            <a:avLst/>
          </a:prstGeom>
          <a:solidFill xmlns:a="http://schemas.openxmlformats.org/drawingml/2006/main">
            <a:srgbClr val="FFFFFF"/>
          </a:solidFill>
          <a:ln xmlns:a="http://schemas.openxmlformats.org/drawingml/2006/main" w="21908">
            <a:solidFill>
              <a:srgbClr val="7A5A9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500">
                <a:solidFill>
                  <a:srgbClr val="172433"/>
                </a:solidFill>
                <a:latin typeface="Arial"/>
                <a:ea typeface="Arial"/>
                <a:cs typeface="Arial"/>
              </a:defRPr>
            </a:pPr>
            <a:r>
              <a:rPr sz="1500">
                <a:solidFill>
                  <a:srgbClr val="172433"/>
                </a:solidFill>
                <a:latin typeface="Arial"/>
                <a:ea typeface="Arial"/>
                <a:cs typeface="Arial"/>
              </a:rPr>
              <a:t>AnnSetu</a:t>
            </a:r>
          </a:p>
        </p:txBody>
      </p:sp>
      <p:sp>
        <p:nvSpPr>
          <p:cNvPr id="2" name="">
            <a:extLst xmlns:a="http://schemas.openxmlformats.org/drawingml/2006/main">
              <a:ext uri="{FF2B5EF4-FFF2-40B4-BE49-F238E27FC236}">
                <a16:creationId xmlns:a16="http://schemas.microsoft.com/office/drawing/2014/main" id="{A909D394-34D1-470B-840F-5CF5C3066C46}"/>
              </a:ext>
            </a:extLst>
          </p:cNvPr>
          <p:cNvSpPr>
            <a:spLocks xmlns:a="http://schemas.openxmlformats.org/drawingml/2006/main" noGrp="1"/>
          </p:cNvSpPr>
          <p:nvPr/>
        </p:nvSpPr>
        <p:spPr>
          <a:xfrm xmlns:a="http://schemas.openxmlformats.org/drawingml/2006/main">
            <a:off x="3143250" y="133350"/>
            <a:ext cx="590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550" b="1">
                <a:solidFill>
                  <a:srgbClr val="111111"/>
                </a:solidFill>
                <a:latin typeface="Georgia"/>
                <a:ea typeface="Georgia"/>
                <a:cs typeface="Georgia"/>
              </a:defRPr>
            </a:pPr>
            <a:r>
              <a:rPr sz="2550" b="1">
                <a:solidFill>
                  <a:srgbClr val="111111"/>
                </a:solidFill>
                <a:latin typeface="Georgia"/>
                <a:ea typeface="Georgia"/>
                <a:cs typeface="Georgia"/>
              </a:rPr>
              <a:t>TECHNICAL APPROACH</a:t>
            </a:r>
          </a:p>
        </p:txBody>
      </p:sp>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d4ac75b20c0847c3"/>
          <a:stretch xmlns:a="http://schemas.openxmlformats.org/drawingml/2006/main"/>
        </p:blipFill>
        <p:spPr>
          <a:xfrm xmlns:a="http://schemas.openxmlformats.org/drawingml/2006/main">
            <a:off x="10002859" y="47625"/>
            <a:ext cx="1654132" cy="781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FAE5B06-E481-49C0-B51E-E5DB01BC5C9D}"/>
              </a:ext>
            </a:extLst>
          </p:cNvPr>
          <p:cNvSpPr>
            <a:spLocks xmlns:a="http://schemas.openxmlformats.org/drawingml/2006/main" noGrp="1"/>
          </p:cNvSpPr>
          <p:nvPr/>
        </p:nvSpPr>
        <p:spPr>
          <a:xfrm xmlns:a="http://schemas.openxmlformats.org/drawingml/2006/main">
            <a:off x="400050" y="971550"/>
            <a:ext cx="2143125" cy="5457825"/>
          </a:xfrm>
          <a:prstGeom xmlns:a="http://schemas.openxmlformats.org/drawingml/2006/main" prst="roundRect">
            <a:avLst>
              <a:gd name="adj" fmla="val 889"/>
            </a:avLst>
          </a:prstGeom>
          <a:solidFill xmlns:a="http://schemas.openxmlformats.org/drawingml/2006/main">
            <a:srgbClr val="FFFFFF"/>
          </a:solidFill>
          <a:ln xmlns:a="http://schemas.openxmlformats.org/drawingml/2006/main" w="11430">
            <a:solidFill>
              <a:srgbClr val="5B9366"/>
            </a:solidFill>
            <a:prstDash val="solid"/>
          </a:ln>
        </p:spPr>
      </p:sp>
      <p:sp>
        <p:nvSpPr>
          <p:cNvPr id="5" name="">
            <a:extLst xmlns:a="http://schemas.openxmlformats.org/drawingml/2006/main">
              <a:ext uri="{FF2B5EF4-FFF2-40B4-BE49-F238E27FC236}">
                <a16:creationId xmlns:a16="http://schemas.microsoft.com/office/drawing/2014/main" id="{849AEAF1-9668-4119-B229-987FA28DBB2D}"/>
              </a:ext>
            </a:extLst>
          </p:cNvPr>
          <p:cNvSpPr>
            <a:spLocks xmlns:a="http://schemas.openxmlformats.org/drawingml/2006/main" noGrp="1"/>
          </p:cNvSpPr>
          <p:nvPr/>
        </p:nvSpPr>
        <p:spPr>
          <a:xfrm xmlns:a="http://schemas.openxmlformats.org/drawingml/2006/main">
            <a:off x="2676525" y="971550"/>
            <a:ext cx="6543675" cy="5457825"/>
          </a:xfrm>
          <a:prstGeom xmlns:a="http://schemas.openxmlformats.org/drawingml/2006/main" prst="roundRect">
            <a:avLst>
              <a:gd name="adj" fmla="val 349"/>
            </a:avLst>
          </a:prstGeom>
          <a:solidFill xmlns:a="http://schemas.openxmlformats.org/drawingml/2006/main">
            <a:srgbClr val="FFFFFF"/>
          </a:solidFill>
          <a:ln xmlns:a="http://schemas.openxmlformats.org/drawingml/2006/main" w="11430">
            <a:solidFill>
              <a:srgbClr val="3C78B2"/>
            </a:solidFill>
            <a:prstDash val="solid"/>
          </a:ln>
        </p:spPr>
      </p:sp>
      <p:sp>
        <p:nvSpPr>
          <p:cNvPr id="6" name="">
            <a:extLst xmlns:a="http://schemas.openxmlformats.org/drawingml/2006/main">
              <a:ext uri="{FF2B5EF4-FFF2-40B4-BE49-F238E27FC236}">
                <a16:creationId xmlns:a16="http://schemas.microsoft.com/office/drawing/2014/main" id="{B744C9D1-86CC-46DD-8AEA-DF96C096C395}"/>
              </a:ext>
            </a:extLst>
          </p:cNvPr>
          <p:cNvSpPr>
            <a:spLocks xmlns:a="http://schemas.openxmlformats.org/drawingml/2006/main" noGrp="1"/>
          </p:cNvSpPr>
          <p:nvPr/>
        </p:nvSpPr>
        <p:spPr>
          <a:xfrm xmlns:a="http://schemas.openxmlformats.org/drawingml/2006/main">
            <a:off x="9353550" y="971550"/>
            <a:ext cx="2438400" cy="5457825"/>
          </a:xfrm>
          <a:prstGeom xmlns:a="http://schemas.openxmlformats.org/drawingml/2006/main" prst="roundRect">
            <a:avLst>
              <a:gd name="adj" fmla="val 781"/>
            </a:avLst>
          </a:prstGeom>
          <a:solidFill xmlns:a="http://schemas.openxmlformats.org/drawingml/2006/main">
            <a:srgbClr val="FFFFFF"/>
          </a:solidFill>
          <a:ln xmlns:a="http://schemas.openxmlformats.org/drawingml/2006/main" w="11430">
            <a:solidFill>
              <a:srgbClr val="5B9366"/>
            </a:solidFill>
            <a:prstDash val="solid"/>
          </a:ln>
        </p:spPr>
      </p:sp>
      <p:sp>
        <p:nvSpPr>
          <p:cNvPr id="7" name="">
            <a:extLst xmlns:a="http://schemas.openxmlformats.org/drawingml/2006/main">
              <a:ext uri="{FF2B5EF4-FFF2-40B4-BE49-F238E27FC236}">
                <a16:creationId xmlns:a16="http://schemas.microsoft.com/office/drawing/2014/main" id="{CCD93FD5-D4C4-4A80-82A7-205873D015D8}"/>
              </a:ext>
            </a:extLst>
          </p:cNvPr>
          <p:cNvSpPr>
            <a:spLocks xmlns:a="http://schemas.openxmlformats.org/drawingml/2006/main" noGrp="1"/>
          </p:cNvSpPr>
          <p:nvPr/>
        </p:nvSpPr>
        <p:spPr>
          <a:xfrm xmlns:a="http://schemas.openxmlformats.org/drawingml/2006/main">
            <a:off x="457200" y="1028700"/>
            <a:ext cx="2028825" cy="285750"/>
          </a:xfrm>
          <a:prstGeom xmlns:a="http://schemas.openxmlformats.org/drawingml/2006/main" prst="roundRect">
            <a:avLst>
              <a:gd name="adj" fmla="val 20000"/>
            </a:avLst>
          </a:prstGeom>
          <a:solidFill xmlns:a="http://schemas.openxmlformats.org/drawingml/2006/main">
            <a:srgbClr val="267A42"/>
          </a:solidFill>
          <a:ln xmlns:a="http://schemas.openxmlformats.org/drawingml/2006/main" w="0">
            <a:solidFill>
              <a:srgbClr val="267A42"/>
            </a:solidFill>
          </a:ln>
        </p:spPr>
        <p:txBody>
          <a:bodyPr xmlns:a="http://schemas.openxmlformats.org/drawingml/2006/main" lIns="47625" tIns="0" rIns="47625" bIns="0" anchor="ctr">
            <a:normAutofit fontScale="100000"/>
          </a:bodyPr>
          <a:lstStyle xmlns:a="http://schemas.openxmlformats.org/drawingml/2006/main"/>
          <a:p xmlns:a="http://schemas.openxmlformats.org/drawingml/2006/main">
            <a:pPr algn="ctr">
              <a:defRPr sz="1013" b="1">
                <a:solidFill>
                  <a:srgbClr val="FFFFFF"/>
                </a:solidFill>
                <a:latin typeface="Arial"/>
                <a:ea typeface="Arial"/>
                <a:cs typeface="Arial"/>
              </a:defRPr>
            </a:pPr>
            <a:r>
              <a:rPr sz="1013" b="1">
                <a:solidFill>
                  <a:srgbClr val="FFFFFF"/>
                </a:solidFill>
                <a:latin typeface="Arial"/>
                <a:ea typeface="Arial"/>
                <a:cs typeface="Arial"/>
              </a:rPr>
              <a:t>1. TECHNOLOGY STACK</a:t>
            </a:r>
          </a:p>
        </p:txBody>
      </p:sp>
      <p:sp>
        <p:nvSpPr>
          <p:cNvPr id="8" name="">
            <a:extLst xmlns:a="http://schemas.openxmlformats.org/drawingml/2006/main">
              <a:ext uri="{FF2B5EF4-FFF2-40B4-BE49-F238E27FC236}">
                <a16:creationId xmlns:a16="http://schemas.microsoft.com/office/drawing/2014/main" id="{3DD57A13-7E2E-4F5E-91AB-E6E27A04DEF5}"/>
              </a:ext>
            </a:extLst>
          </p:cNvPr>
          <p:cNvSpPr>
            <a:spLocks xmlns:a="http://schemas.openxmlformats.org/drawingml/2006/main" noGrp="1"/>
          </p:cNvSpPr>
          <p:nvPr/>
        </p:nvSpPr>
        <p:spPr>
          <a:xfrm xmlns:a="http://schemas.openxmlformats.org/drawingml/2006/main">
            <a:off x="3914775" y="1028700"/>
            <a:ext cx="4057650" cy="285750"/>
          </a:xfrm>
          <a:prstGeom xmlns:a="http://schemas.openxmlformats.org/drawingml/2006/main" prst="roundRect">
            <a:avLst>
              <a:gd name="adj" fmla="val 20000"/>
            </a:avLst>
          </a:prstGeom>
          <a:solidFill xmlns:a="http://schemas.openxmlformats.org/drawingml/2006/main">
            <a:srgbClr val="2467A1"/>
          </a:solidFill>
          <a:ln xmlns:a="http://schemas.openxmlformats.org/drawingml/2006/main" w="0">
            <a:solidFill>
              <a:srgbClr val="2467A1"/>
            </a:solidFill>
          </a:ln>
        </p:spPr>
        <p:txBody>
          <a:bodyPr xmlns:a="http://schemas.openxmlformats.org/drawingml/2006/main" lIns="47625" tIns="0" rIns="47625" bIns="0" anchor="ctr">
            <a:normAutofit fontScale="100000"/>
          </a:bodyPr>
          <a:lstStyle xmlns:a="http://schemas.openxmlformats.org/drawingml/2006/main"/>
          <a:p xmlns:a="http://schemas.openxmlformats.org/drawingml/2006/main">
            <a:pPr algn="ctr">
              <a:defRPr sz="1013" b="1">
                <a:solidFill>
                  <a:srgbClr val="FFFFFF"/>
                </a:solidFill>
                <a:latin typeface="Arial"/>
                <a:ea typeface="Arial"/>
                <a:cs typeface="Arial"/>
              </a:defRPr>
            </a:pPr>
            <a:r>
              <a:rPr sz="1013" b="1">
                <a:solidFill>
                  <a:srgbClr val="FFFFFF"/>
                </a:solidFill>
                <a:latin typeface="Arial"/>
                <a:ea typeface="Arial"/>
                <a:cs typeface="Arial"/>
              </a:rPr>
              <a:t>2. SYSTEM FLOW  |  FARMER JOURNEY</a:t>
            </a:r>
          </a:p>
        </p:txBody>
      </p:sp>
      <p:sp>
        <p:nvSpPr>
          <p:cNvPr id="9" name="">
            <a:extLst xmlns:a="http://schemas.openxmlformats.org/drawingml/2006/main">
              <a:ext uri="{FF2B5EF4-FFF2-40B4-BE49-F238E27FC236}">
                <a16:creationId xmlns:a16="http://schemas.microsoft.com/office/drawing/2014/main" id="{A66DF775-EEEA-455D-A212-88E1B5096E18}"/>
              </a:ext>
            </a:extLst>
          </p:cNvPr>
          <p:cNvSpPr>
            <a:spLocks xmlns:a="http://schemas.openxmlformats.org/drawingml/2006/main" noGrp="1"/>
          </p:cNvSpPr>
          <p:nvPr/>
        </p:nvSpPr>
        <p:spPr>
          <a:xfrm xmlns:a="http://schemas.openxmlformats.org/drawingml/2006/main">
            <a:off x="9410700" y="1028700"/>
            <a:ext cx="2324100" cy="285750"/>
          </a:xfrm>
          <a:prstGeom xmlns:a="http://schemas.openxmlformats.org/drawingml/2006/main" prst="roundRect">
            <a:avLst>
              <a:gd name="adj" fmla="val 20000"/>
            </a:avLst>
          </a:prstGeom>
          <a:solidFill xmlns:a="http://schemas.openxmlformats.org/drawingml/2006/main">
            <a:srgbClr val="267A42"/>
          </a:solidFill>
          <a:ln xmlns:a="http://schemas.openxmlformats.org/drawingml/2006/main" w="0">
            <a:solidFill>
              <a:srgbClr val="267A42"/>
            </a:solidFill>
          </a:ln>
        </p:spPr>
        <p:txBody>
          <a:bodyPr xmlns:a="http://schemas.openxmlformats.org/drawingml/2006/main" lIns="47625" tIns="0" rIns="47625" bIns="0" anchor="ctr">
            <a:normAutofit fontScale="100000"/>
          </a:bodyPr>
          <a:lstStyle xmlns:a="http://schemas.openxmlformats.org/drawingml/2006/main"/>
          <a:p xmlns:a="http://schemas.openxmlformats.org/drawingml/2006/main">
            <a:pPr algn="ctr">
              <a:defRPr sz="915" b="1">
                <a:solidFill>
                  <a:srgbClr val="FFFFFF"/>
                </a:solidFill>
                <a:latin typeface="Arial"/>
                <a:ea typeface="Arial"/>
                <a:cs typeface="Arial"/>
              </a:defRPr>
            </a:pPr>
            <a:r>
              <a:rPr sz="915" b="1">
                <a:solidFill>
                  <a:srgbClr val="FFFFFF"/>
                </a:solidFill>
                <a:latin typeface="Arial"/>
                <a:ea typeface="Arial"/>
                <a:cs typeface="Arial"/>
              </a:rPr>
              <a:t>3. IMPLEMENTATION METHODOLOGY</a:t>
            </a:r>
          </a:p>
        </p:txBody>
      </p:sp>
      <p:sp>
        <p:nvSpPr>
          <p:cNvPr id="10" name="">
            <a:extLst xmlns:a="http://schemas.openxmlformats.org/drawingml/2006/main">
              <a:ext uri="{FF2B5EF4-FFF2-40B4-BE49-F238E27FC236}">
                <a16:creationId xmlns:a16="http://schemas.microsoft.com/office/drawing/2014/main" id="{257D7E3C-F792-4599-9F2E-F241091572D1}"/>
              </a:ext>
            </a:extLst>
          </p:cNvPr>
          <p:cNvSpPr>
            <a:spLocks xmlns:a="http://schemas.openxmlformats.org/drawingml/2006/main" noGrp="1"/>
          </p:cNvSpPr>
          <p:nvPr/>
        </p:nvSpPr>
        <p:spPr>
          <a:xfrm xmlns:a="http://schemas.openxmlformats.org/drawingml/2006/main">
            <a:off x="523875" y="1485900"/>
            <a:ext cx="409575" cy="409575"/>
          </a:xfrm>
          <a:prstGeom xmlns:a="http://schemas.openxmlformats.org/drawingml/2006/main" prst="ellipse">
            <a:avLst/>
          </a:prstGeom>
          <a:solidFill xmlns:a="http://schemas.openxmlformats.org/drawingml/2006/main">
            <a:srgbClr val="2467A1"/>
          </a:solidFill>
          <a:ln xmlns:a="http://schemas.openxmlformats.org/drawingml/2006/main" w="0">
            <a:solidFill>
              <a:srgbClr val="2467A1"/>
            </a:solid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UI</a:t>
            </a:r>
          </a:p>
        </p:txBody>
      </p:sp>
      <p:sp>
        <p:nvSpPr>
          <p:cNvPr id="11" name="">
            <a:extLst xmlns:a="http://schemas.openxmlformats.org/drawingml/2006/main">
              <a:ext uri="{FF2B5EF4-FFF2-40B4-BE49-F238E27FC236}">
                <a16:creationId xmlns:a16="http://schemas.microsoft.com/office/drawing/2014/main" id="{EDC72420-8A46-44B8-B4E2-65B2717748F8}"/>
              </a:ext>
            </a:extLst>
          </p:cNvPr>
          <p:cNvSpPr>
            <a:spLocks xmlns:a="http://schemas.openxmlformats.org/drawingml/2006/main" noGrp="1"/>
          </p:cNvSpPr>
          <p:nvPr/>
        </p:nvSpPr>
        <p:spPr>
          <a:xfrm xmlns:a="http://schemas.openxmlformats.org/drawingml/2006/main">
            <a:off x="1028700" y="1419225"/>
            <a:ext cx="1362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2467A1"/>
                </a:solidFill>
                <a:latin typeface="Arial"/>
                <a:ea typeface="Arial"/>
                <a:cs typeface="Arial"/>
              </a:defRPr>
            </a:pPr>
            <a:r>
              <a:rPr sz="1088" b="1">
                <a:solidFill>
                  <a:srgbClr val="2467A1"/>
                </a:solidFill>
                <a:latin typeface="Arial"/>
                <a:ea typeface="Arial"/>
                <a:cs typeface="Arial"/>
              </a:rPr>
              <a:t>Web experience</a:t>
            </a:r>
          </a:p>
        </p:txBody>
      </p:sp>
      <p:sp>
        <p:nvSpPr>
          <p:cNvPr id="12" name="">
            <a:extLst xmlns:a="http://schemas.openxmlformats.org/drawingml/2006/main">
              <a:ext uri="{FF2B5EF4-FFF2-40B4-BE49-F238E27FC236}">
                <a16:creationId xmlns:a16="http://schemas.microsoft.com/office/drawing/2014/main" id="{D7C4A8DD-DCC6-4D51-94C8-2C8882019C22}"/>
              </a:ext>
            </a:extLst>
          </p:cNvPr>
          <p:cNvSpPr>
            <a:spLocks xmlns:a="http://schemas.openxmlformats.org/drawingml/2006/main" noGrp="1"/>
          </p:cNvSpPr>
          <p:nvPr/>
        </p:nvSpPr>
        <p:spPr>
          <a:xfrm xmlns:a="http://schemas.openxmlformats.org/drawingml/2006/main">
            <a:off x="1028700" y="166687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Next.js, React</a:t>
            </a:r>
          </a:p>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TanStack Query</a:t>
            </a:r>
          </a:p>
        </p:txBody>
      </p:sp>
      <p:sp>
        <p:nvSpPr>
          <p:cNvPr id="13" name="">
            <a:extLst xmlns:a="http://schemas.openxmlformats.org/drawingml/2006/main">
              <a:ext uri="{FF2B5EF4-FFF2-40B4-BE49-F238E27FC236}">
                <a16:creationId xmlns:a16="http://schemas.microsoft.com/office/drawing/2014/main" id="{DDA3C6FB-640A-49CA-811C-7D43117E6810}"/>
              </a:ext>
            </a:extLst>
          </p:cNvPr>
          <p:cNvSpPr>
            <a:spLocks xmlns:a="http://schemas.openxmlformats.org/drawingml/2006/main" noGrp="1"/>
          </p:cNvSpPr>
          <p:nvPr/>
        </p:nvSpPr>
        <p:spPr>
          <a:xfrm xmlns:a="http://schemas.openxmlformats.org/drawingml/2006/main">
            <a:off x="504825" y="2133600"/>
            <a:ext cx="1895475" cy="0"/>
          </a:xfrm>
          <a:prstGeom xmlns:a="http://schemas.openxmlformats.org/drawingml/2006/main" prst="line">
            <a:avLst/>
          </a:prstGeom>
          <a:noFill xmlns:a="http://schemas.openxmlformats.org/drawingml/2006/main"/>
          <a:ln xmlns:a="http://schemas.openxmlformats.org/drawingml/2006/main" w="7620">
            <a:solidFill>
              <a:srgbClr val="D7E0E6"/>
            </a:solidFill>
            <a:prstDash val="solid"/>
          </a:ln>
        </p:spPr>
      </p:sp>
      <p:sp>
        <p:nvSpPr>
          <p:cNvPr id="14" name="">
            <a:extLst xmlns:a="http://schemas.openxmlformats.org/drawingml/2006/main">
              <a:ext uri="{FF2B5EF4-FFF2-40B4-BE49-F238E27FC236}">
                <a16:creationId xmlns:a16="http://schemas.microsoft.com/office/drawing/2014/main" id="{2807796D-76B1-4B45-B4DD-850A1BF2ACA8}"/>
              </a:ext>
            </a:extLst>
          </p:cNvPr>
          <p:cNvSpPr>
            <a:spLocks xmlns:a="http://schemas.openxmlformats.org/drawingml/2006/main" noGrp="1"/>
          </p:cNvSpPr>
          <p:nvPr/>
        </p:nvSpPr>
        <p:spPr>
          <a:xfrm xmlns:a="http://schemas.openxmlformats.org/drawingml/2006/main">
            <a:off x="523875" y="2295525"/>
            <a:ext cx="409575" cy="409575"/>
          </a:xfrm>
          <a:prstGeom xmlns:a="http://schemas.openxmlformats.org/drawingml/2006/main" prst="ellipse">
            <a:avLst/>
          </a:prstGeom>
          <a:solidFill xmlns:a="http://schemas.openxmlformats.org/drawingml/2006/main">
            <a:srgbClr val="173C66"/>
          </a:solidFill>
          <a:ln xmlns:a="http://schemas.openxmlformats.org/drawingml/2006/main" w="0">
            <a:solidFill>
              <a:srgbClr val="173C66"/>
            </a:solid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API</a:t>
            </a:r>
          </a:p>
        </p:txBody>
      </p:sp>
      <p:sp>
        <p:nvSpPr>
          <p:cNvPr id="15" name="">
            <a:extLst xmlns:a="http://schemas.openxmlformats.org/drawingml/2006/main">
              <a:ext uri="{FF2B5EF4-FFF2-40B4-BE49-F238E27FC236}">
                <a16:creationId xmlns:a16="http://schemas.microsoft.com/office/drawing/2014/main" id="{0C98D5D2-0CCA-4060-9D5F-40579F189D78}"/>
              </a:ext>
            </a:extLst>
          </p:cNvPr>
          <p:cNvSpPr>
            <a:spLocks xmlns:a="http://schemas.openxmlformats.org/drawingml/2006/main" noGrp="1"/>
          </p:cNvSpPr>
          <p:nvPr/>
        </p:nvSpPr>
        <p:spPr>
          <a:xfrm xmlns:a="http://schemas.openxmlformats.org/drawingml/2006/main">
            <a:off x="1028700" y="2228850"/>
            <a:ext cx="1362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173C66"/>
                </a:solidFill>
                <a:latin typeface="Arial"/>
                <a:ea typeface="Arial"/>
                <a:cs typeface="Arial"/>
              </a:defRPr>
            </a:pPr>
            <a:r>
              <a:rPr sz="1088" b="1">
                <a:solidFill>
                  <a:srgbClr val="173C66"/>
                </a:solidFill>
                <a:latin typeface="Arial"/>
                <a:ea typeface="Arial"/>
                <a:cs typeface="Arial"/>
              </a:rPr>
              <a:t>API and realtime</a:t>
            </a:r>
          </a:p>
        </p:txBody>
      </p:sp>
      <p:sp>
        <p:nvSpPr>
          <p:cNvPr id="16" name="">
            <a:extLst xmlns:a="http://schemas.openxmlformats.org/drawingml/2006/main">
              <a:ext uri="{FF2B5EF4-FFF2-40B4-BE49-F238E27FC236}">
                <a16:creationId xmlns:a16="http://schemas.microsoft.com/office/drawing/2014/main" id="{7B5EBAA3-1FD1-4587-BF55-E72960F7AEB7}"/>
              </a:ext>
            </a:extLst>
          </p:cNvPr>
          <p:cNvSpPr>
            <a:spLocks xmlns:a="http://schemas.openxmlformats.org/drawingml/2006/main" noGrp="1"/>
          </p:cNvSpPr>
          <p:nvPr/>
        </p:nvSpPr>
        <p:spPr>
          <a:xfrm xmlns:a="http://schemas.openxmlformats.org/drawingml/2006/main">
            <a:off x="1028700" y="2476500"/>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NestJS, REST</a:t>
            </a:r>
          </a:p>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Socket.IO</a:t>
            </a:r>
          </a:p>
        </p:txBody>
      </p:sp>
      <p:sp>
        <p:nvSpPr>
          <p:cNvPr id="17" name="">
            <a:extLst xmlns:a="http://schemas.openxmlformats.org/drawingml/2006/main">
              <a:ext uri="{FF2B5EF4-FFF2-40B4-BE49-F238E27FC236}">
                <a16:creationId xmlns:a16="http://schemas.microsoft.com/office/drawing/2014/main" id="{A2153058-1BC7-4C92-B0FF-5DDF241F89CD}"/>
              </a:ext>
            </a:extLst>
          </p:cNvPr>
          <p:cNvSpPr>
            <a:spLocks xmlns:a="http://schemas.openxmlformats.org/drawingml/2006/main" noGrp="1"/>
          </p:cNvSpPr>
          <p:nvPr/>
        </p:nvSpPr>
        <p:spPr>
          <a:xfrm xmlns:a="http://schemas.openxmlformats.org/drawingml/2006/main">
            <a:off x="504825" y="2943225"/>
            <a:ext cx="1895475" cy="0"/>
          </a:xfrm>
          <a:prstGeom xmlns:a="http://schemas.openxmlformats.org/drawingml/2006/main" prst="line">
            <a:avLst/>
          </a:prstGeom>
          <a:noFill xmlns:a="http://schemas.openxmlformats.org/drawingml/2006/main"/>
          <a:ln xmlns:a="http://schemas.openxmlformats.org/drawingml/2006/main" w="7620">
            <a:solidFill>
              <a:srgbClr val="D7E0E6"/>
            </a:solidFill>
            <a:prstDash val="solid"/>
          </a:ln>
        </p:spPr>
      </p:sp>
      <p:sp>
        <p:nvSpPr>
          <p:cNvPr id="18" name="">
            <a:extLst xmlns:a="http://schemas.openxmlformats.org/drawingml/2006/main">
              <a:ext uri="{FF2B5EF4-FFF2-40B4-BE49-F238E27FC236}">
                <a16:creationId xmlns:a16="http://schemas.microsoft.com/office/drawing/2014/main" id="{2ABB2F7B-C3B8-4FF8-978F-C1563E3DC138}"/>
              </a:ext>
            </a:extLst>
          </p:cNvPr>
          <p:cNvSpPr>
            <a:spLocks xmlns:a="http://schemas.openxmlformats.org/drawingml/2006/main" noGrp="1"/>
          </p:cNvSpPr>
          <p:nvPr/>
        </p:nvSpPr>
        <p:spPr>
          <a:xfrm xmlns:a="http://schemas.openxmlformats.org/drawingml/2006/main">
            <a:off x="523875" y="3105150"/>
            <a:ext cx="409575" cy="409575"/>
          </a:xfrm>
          <a:prstGeom xmlns:a="http://schemas.openxmlformats.org/drawingml/2006/main" prst="ellipse">
            <a:avLst/>
          </a:prstGeom>
          <a:solidFill xmlns:a="http://schemas.openxmlformats.org/drawingml/2006/main">
            <a:srgbClr val="267A42"/>
          </a:solidFill>
          <a:ln xmlns:a="http://schemas.openxmlformats.org/drawingml/2006/main" w="0">
            <a:solidFill>
              <a:srgbClr val="267A42"/>
            </a:solid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DB</a:t>
            </a:r>
          </a:p>
        </p:txBody>
      </p:sp>
      <p:sp>
        <p:nvSpPr>
          <p:cNvPr id="19" name="">
            <a:extLst xmlns:a="http://schemas.openxmlformats.org/drawingml/2006/main">
              <a:ext uri="{FF2B5EF4-FFF2-40B4-BE49-F238E27FC236}">
                <a16:creationId xmlns:a16="http://schemas.microsoft.com/office/drawing/2014/main" id="{31733FEE-7FF4-4CFF-805E-B9459CDD1764}"/>
              </a:ext>
            </a:extLst>
          </p:cNvPr>
          <p:cNvSpPr>
            <a:spLocks xmlns:a="http://schemas.openxmlformats.org/drawingml/2006/main" noGrp="1"/>
          </p:cNvSpPr>
          <p:nvPr/>
        </p:nvSpPr>
        <p:spPr>
          <a:xfrm xmlns:a="http://schemas.openxmlformats.org/drawingml/2006/main">
            <a:off x="1028700" y="3038475"/>
            <a:ext cx="1362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267A42"/>
                </a:solidFill>
                <a:latin typeface="Arial"/>
                <a:ea typeface="Arial"/>
                <a:cs typeface="Arial"/>
              </a:defRPr>
            </a:pPr>
            <a:r>
              <a:rPr sz="1088" b="1">
                <a:solidFill>
                  <a:srgbClr val="267A42"/>
                </a:solidFill>
                <a:latin typeface="Arial"/>
                <a:ea typeface="Arial"/>
                <a:cs typeface="Arial"/>
              </a:rPr>
              <a:t>Data and jobs</a:t>
            </a:r>
          </a:p>
        </p:txBody>
      </p:sp>
      <p:sp>
        <p:nvSpPr>
          <p:cNvPr id="20" name="">
            <a:extLst xmlns:a="http://schemas.openxmlformats.org/drawingml/2006/main">
              <a:ext uri="{FF2B5EF4-FFF2-40B4-BE49-F238E27FC236}">
                <a16:creationId xmlns:a16="http://schemas.microsoft.com/office/drawing/2014/main" id="{F9BCA917-7318-40FD-BED8-81A6ACB9F7E4}"/>
              </a:ext>
            </a:extLst>
          </p:cNvPr>
          <p:cNvSpPr>
            <a:spLocks xmlns:a="http://schemas.openxmlformats.org/drawingml/2006/main" noGrp="1"/>
          </p:cNvSpPr>
          <p:nvPr/>
        </p:nvSpPr>
        <p:spPr>
          <a:xfrm xmlns:a="http://schemas.openxmlformats.org/drawingml/2006/main">
            <a:off x="1028700" y="328612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PostgreSQL, Prisma</a:t>
            </a:r>
          </a:p>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Redis, BullMQ</a:t>
            </a:r>
          </a:p>
        </p:txBody>
      </p:sp>
      <p:sp>
        <p:nvSpPr>
          <p:cNvPr id="21" name="">
            <a:extLst xmlns:a="http://schemas.openxmlformats.org/drawingml/2006/main">
              <a:ext uri="{FF2B5EF4-FFF2-40B4-BE49-F238E27FC236}">
                <a16:creationId xmlns:a16="http://schemas.microsoft.com/office/drawing/2014/main" id="{CA8AE0FD-07C0-4C94-BEE4-E2FB87846C83}"/>
              </a:ext>
            </a:extLst>
          </p:cNvPr>
          <p:cNvSpPr>
            <a:spLocks xmlns:a="http://schemas.openxmlformats.org/drawingml/2006/main" noGrp="1"/>
          </p:cNvSpPr>
          <p:nvPr/>
        </p:nvSpPr>
        <p:spPr>
          <a:xfrm xmlns:a="http://schemas.openxmlformats.org/drawingml/2006/main">
            <a:off x="504825" y="3752850"/>
            <a:ext cx="1895475" cy="0"/>
          </a:xfrm>
          <a:prstGeom xmlns:a="http://schemas.openxmlformats.org/drawingml/2006/main" prst="line">
            <a:avLst/>
          </a:prstGeom>
          <a:noFill xmlns:a="http://schemas.openxmlformats.org/drawingml/2006/main"/>
          <a:ln xmlns:a="http://schemas.openxmlformats.org/drawingml/2006/main" w="7620">
            <a:solidFill>
              <a:srgbClr val="D7E0E6"/>
            </a:solidFill>
            <a:prstDash val="solid"/>
          </a:ln>
        </p:spPr>
      </p:sp>
      <p:sp>
        <p:nvSpPr>
          <p:cNvPr id="22" name="">
            <a:extLst xmlns:a="http://schemas.openxmlformats.org/drawingml/2006/main">
              <a:ext uri="{FF2B5EF4-FFF2-40B4-BE49-F238E27FC236}">
                <a16:creationId xmlns:a16="http://schemas.microsoft.com/office/drawing/2014/main" id="{600032DF-8442-42E1-AFAE-E42681D9ACF7}"/>
              </a:ext>
            </a:extLst>
          </p:cNvPr>
          <p:cNvSpPr>
            <a:spLocks xmlns:a="http://schemas.openxmlformats.org/drawingml/2006/main" noGrp="1"/>
          </p:cNvSpPr>
          <p:nvPr/>
        </p:nvSpPr>
        <p:spPr>
          <a:xfrm xmlns:a="http://schemas.openxmlformats.org/drawingml/2006/main">
            <a:off x="523875" y="3914775"/>
            <a:ext cx="409575" cy="409575"/>
          </a:xfrm>
          <a:prstGeom xmlns:a="http://schemas.openxmlformats.org/drawingml/2006/main" prst="ellipse">
            <a:avLst/>
          </a:prstGeom>
          <a:solidFill xmlns:a="http://schemas.openxmlformats.org/drawingml/2006/main">
            <a:srgbClr val="E27600"/>
          </a:solidFill>
          <a:ln xmlns:a="http://schemas.openxmlformats.org/drawingml/2006/main" w="0">
            <a:solidFill>
              <a:srgbClr val="E27600"/>
            </a:solid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788" b="1">
                <a:solidFill>
                  <a:srgbClr val="FFFFFF"/>
                </a:solidFill>
                <a:latin typeface="Arial"/>
                <a:ea typeface="Arial"/>
                <a:cs typeface="Arial"/>
              </a:defRPr>
            </a:pPr>
            <a:r>
              <a:rPr sz="788" b="1">
                <a:solidFill>
                  <a:srgbClr val="FFFFFF"/>
                </a:solidFill>
                <a:latin typeface="Arial"/>
                <a:ea typeface="Arial"/>
                <a:cs typeface="Arial"/>
              </a:rPr>
              <a:t>SEC</a:t>
            </a:r>
          </a:p>
        </p:txBody>
      </p:sp>
      <p:sp>
        <p:nvSpPr>
          <p:cNvPr id="23" name="">
            <a:extLst xmlns:a="http://schemas.openxmlformats.org/drawingml/2006/main">
              <a:ext uri="{FF2B5EF4-FFF2-40B4-BE49-F238E27FC236}">
                <a16:creationId xmlns:a16="http://schemas.microsoft.com/office/drawing/2014/main" id="{974AAEA2-BBEB-4DDE-A45E-C9C1F203E7A4}"/>
              </a:ext>
            </a:extLst>
          </p:cNvPr>
          <p:cNvSpPr>
            <a:spLocks xmlns:a="http://schemas.openxmlformats.org/drawingml/2006/main" noGrp="1"/>
          </p:cNvSpPr>
          <p:nvPr/>
        </p:nvSpPr>
        <p:spPr>
          <a:xfrm xmlns:a="http://schemas.openxmlformats.org/drawingml/2006/main">
            <a:off x="1028700" y="3848100"/>
            <a:ext cx="1362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E27600"/>
                </a:solidFill>
                <a:latin typeface="Arial"/>
                <a:ea typeface="Arial"/>
                <a:cs typeface="Arial"/>
              </a:defRPr>
            </a:pPr>
            <a:r>
              <a:rPr sz="1088" b="1">
                <a:solidFill>
                  <a:srgbClr val="E27600"/>
                </a:solidFill>
                <a:latin typeface="Arial"/>
                <a:ea typeface="Arial"/>
                <a:cs typeface="Arial"/>
              </a:rPr>
              <a:t>Security</a:t>
            </a:r>
          </a:p>
        </p:txBody>
      </p:sp>
      <p:sp>
        <p:nvSpPr>
          <p:cNvPr id="24" name="">
            <a:extLst xmlns:a="http://schemas.openxmlformats.org/drawingml/2006/main">
              <a:ext uri="{FF2B5EF4-FFF2-40B4-BE49-F238E27FC236}">
                <a16:creationId xmlns:a16="http://schemas.microsoft.com/office/drawing/2014/main" id="{12CC807D-314E-4504-8B26-C2923BA0FD1E}"/>
              </a:ext>
            </a:extLst>
          </p:cNvPr>
          <p:cNvSpPr>
            <a:spLocks xmlns:a="http://schemas.openxmlformats.org/drawingml/2006/main" noGrp="1"/>
          </p:cNvSpPr>
          <p:nvPr/>
        </p:nvSpPr>
        <p:spPr>
          <a:xfrm xmlns:a="http://schemas.openxmlformats.org/drawingml/2006/main">
            <a:off x="1028700" y="4095750"/>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JWT, RBAC, Argon2</a:t>
            </a:r>
          </a:p>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Zod, audit controls</a:t>
            </a:r>
          </a:p>
        </p:txBody>
      </p:sp>
      <p:sp>
        <p:nvSpPr>
          <p:cNvPr id="25" name="">
            <a:extLst xmlns:a="http://schemas.openxmlformats.org/drawingml/2006/main">
              <a:ext uri="{FF2B5EF4-FFF2-40B4-BE49-F238E27FC236}">
                <a16:creationId xmlns:a16="http://schemas.microsoft.com/office/drawing/2014/main" id="{31E6F467-B28D-4403-936F-BD6FCF7585B3}"/>
              </a:ext>
            </a:extLst>
          </p:cNvPr>
          <p:cNvSpPr>
            <a:spLocks xmlns:a="http://schemas.openxmlformats.org/drawingml/2006/main" noGrp="1"/>
          </p:cNvSpPr>
          <p:nvPr/>
        </p:nvSpPr>
        <p:spPr>
          <a:xfrm xmlns:a="http://schemas.openxmlformats.org/drawingml/2006/main">
            <a:off x="504825" y="4562475"/>
            <a:ext cx="1895475" cy="0"/>
          </a:xfrm>
          <a:prstGeom xmlns:a="http://schemas.openxmlformats.org/drawingml/2006/main" prst="line">
            <a:avLst/>
          </a:prstGeom>
          <a:noFill xmlns:a="http://schemas.openxmlformats.org/drawingml/2006/main"/>
          <a:ln xmlns:a="http://schemas.openxmlformats.org/drawingml/2006/main" w="7620">
            <a:solidFill>
              <a:srgbClr val="D7E0E6"/>
            </a:solidFill>
            <a:prstDash val="solid"/>
          </a:ln>
        </p:spPr>
      </p:sp>
      <p:sp>
        <p:nvSpPr>
          <p:cNvPr id="26" name="">
            <a:extLst xmlns:a="http://schemas.openxmlformats.org/drawingml/2006/main">
              <a:ext uri="{FF2B5EF4-FFF2-40B4-BE49-F238E27FC236}">
                <a16:creationId xmlns:a16="http://schemas.microsoft.com/office/drawing/2014/main" id="{45479348-F26C-4CB5-8BC3-37D73F02ACBD}"/>
              </a:ext>
            </a:extLst>
          </p:cNvPr>
          <p:cNvSpPr>
            <a:spLocks xmlns:a="http://schemas.openxmlformats.org/drawingml/2006/main" noGrp="1"/>
          </p:cNvSpPr>
          <p:nvPr/>
        </p:nvSpPr>
        <p:spPr>
          <a:xfrm xmlns:a="http://schemas.openxmlformats.org/drawingml/2006/main">
            <a:off x="523875" y="4724400"/>
            <a:ext cx="409575" cy="409575"/>
          </a:xfrm>
          <a:prstGeom xmlns:a="http://schemas.openxmlformats.org/drawingml/2006/main" prst="ellipse">
            <a:avLst/>
          </a:prstGeom>
          <a:solidFill xmlns:a="http://schemas.openxmlformats.org/drawingml/2006/main">
            <a:srgbClr val="15828B"/>
          </a:solidFill>
          <a:ln xmlns:a="http://schemas.openxmlformats.org/drawingml/2006/main" w="0">
            <a:solidFill>
              <a:srgbClr val="15828B"/>
            </a:solid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IO</a:t>
            </a:r>
          </a:p>
        </p:txBody>
      </p:sp>
      <p:sp>
        <p:nvSpPr>
          <p:cNvPr id="27" name="">
            <a:extLst xmlns:a="http://schemas.openxmlformats.org/drawingml/2006/main">
              <a:ext uri="{FF2B5EF4-FFF2-40B4-BE49-F238E27FC236}">
                <a16:creationId xmlns:a16="http://schemas.microsoft.com/office/drawing/2014/main" id="{9388B14F-CB42-4FAA-A477-A5D8E5D8AA95}"/>
              </a:ext>
            </a:extLst>
          </p:cNvPr>
          <p:cNvSpPr>
            <a:spLocks xmlns:a="http://schemas.openxmlformats.org/drawingml/2006/main" noGrp="1"/>
          </p:cNvSpPr>
          <p:nvPr/>
        </p:nvSpPr>
        <p:spPr>
          <a:xfrm xmlns:a="http://schemas.openxmlformats.org/drawingml/2006/main">
            <a:off x="1028700" y="4657725"/>
            <a:ext cx="1362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15828B"/>
                </a:solidFill>
                <a:latin typeface="Arial"/>
                <a:ea typeface="Arial"/>
                <a:cs typeface="Arial"/>
              </a:defRPr>
            </a:pPr>
            <a:r>
              <a:rPr sz="1088" b="1">
                <a:solidFill>
                  <a:srgbClr val="15828B"/>
                </a:solidFill>
                <a:latin typeface="Arial"/>
                <a:ea typeface="Arial"/>
                <a:cs typeface="Arial"/>
              </a:rPr>
              <a:t>Inclusive access</a:t>
            </a:r>
          </a:p>
        </p:txBody>
      </p:sp>
      <p:sp>
        <p:nvSpPr>
          <p:cNvPr id="28" name="">
            <a:extLst xmlns:a="http://schemas.openxmlformats.org/drawingml/2006/main">
              <a:ext uri="{FF2B5EF4-FFF2-40B4-BE49-F238E27FC236}">
                <a16:creationId xmlns:a16="http://schemas.microsoft.com/office/drawing/2014/main" id="{D8ED3815-2BB3-4EF9-874F-3B712814F15B}"/>
              </a:ext>
            </a:extLst>
          </p:cNvPr>
          <p:cNvSpPr>
            <a:spLocks xmlns:a="http://schemas.openxmlformats.org/drawingml/2006/main" noGrp="1"/>
          </p:cNvSpPr>
          <p:nvPr/>
        </p:nvSpPr>
        <p:spPr>
          <a:xfrm xmlns:a="http://schemas.openxmlformats.org/drawingml/2006/main">
            <a:off x="1028700" y="490537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PWA, SMS, USSD</a:t>
            </a:r>
          </a:p>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IVR and TTS simulation</a:t>
            </a:r>
          </a:p>
        </p:txBody>
      </p:sp>
      <p:sp>
        <p:nvSpPr>
          <p:cNvPr id="29" name="">
            <a:extLst xmlns:a="http://schemas.openxmlformats.org/drawingml/2006/main">
              <a:ext uri="{FF2B5EF4-FFF2-40B4-BE49-F238E27FC236}">
                <a16:creationId xmlns:a16="http://schemas.microsoft.com/office/drawing/2014/main" id="{488B0E01-4C18-464B-85DA-829261986F86}"/>
              </a:ext>
            </a:extLst>
          </p:cNvPr>
          <p:cNvSpPr>
            <a:spLocks xmlns:a="http://schemas.openxmlformats.org/drawingml/2006/main" noGrp="1"/>
          </p:cNvSpPr>
          <p:nvPr/>
        </p:nvSpPr>
        <p:spPr>
          <a:xfrm xmlns:a="http://schemas.openxmlformats.org/drawingml/2006/main">
            <a:off x="504825" y="5372100"/>
            <a:ext cx="1895475" cy="0"/>
          </a:xfrm>
          <a:prstGeom xmlns:a="http://schemas.openxmlformats.org/drawingml/2006/main" prst="line">
            <a:avLst/>
          </a:prstGeom>
          <a:noFill xmlns:a="http://schemas.openxmlformats.org/drawingml/2006/main"/>
          <a:ln xmlns:a="http://schemas.openxmlformats.org/drawingml/2006/main" w="7620">
            <a:solidFill>
              <a:srgbClr val="D7E0E6"/>
            </a:solidFill>
            <a:prstDash val="solid"/>
          </a:ln>
        </p:spPr>
      </p:sp>
      <p:sp>
        <p:nvSpPr>
          <p:cNvPr id="30" name="">
            <a:extLst xmlns:a="http://schemas.openxmlformats.org/drawingml/2006/main">
              <a:ext uri="{FF2B5EF4-FFF2-40B4-BE49-F238E27FC236}">
                <a16:creationId xmlns:a16="http://schemas.microsoft.com/office/drawing/2014/main" id="{7C4480F3-50D1-49D2-B928-EA432E445941}"/>
              </a:ext>
            </a:extLst>
          </p:cNvPr>
          <p:cNvSpPr>
            <a:spLocks xmlns:a="http://schemas.openxmlformats.org/drawingml/2006/main" noGrp="1"/>
          </p:cNvSpPr>
          <p:nvPr/>
        </p:nvSpPr>
        <p:spPr>
          <a:xfrm xmlns:a="http://schemas.openxmlformats.org/drawingml/2006/main">
            <a:off x="523875" y="5534025"/>
            <a:ext cx="409575" cy="409575"/>
          </a:xfrm>
          <a:prstGeom xmlns:a="http://schemas.openxmlformats.org/drawingml/2006/main" prst="ellipse">
            <a:avLst/>
          </a:prstGeom>
          <a:solidFill xmlns:a="http://schemas.openxmlformats.org/drawingml/2006/main">
            <a:srgbClr val="6247A5"/>
          </a:solidFill>
          <a:ln xmlns:a="http://schemas.openxmlformats.org/drawingml/2006/main" w="0">
            <a:solidFill>
              <a:srgbClr val="6247A5"/>
            </a:solid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CI</a:t>
            </a:r>
          </a:p>
        </p:txBody>
      </p:sp>
      <p:sp>
        <p:nvSpPr>
          <p:cNvPr id="31" name="">
            <a:extLst xmlns:a="http://schemas.openxmlformats.org/drawingml/2006/main">
              <a:ext uri="{FF2B5EF4-FFF2-40B4-BE49-F238E27FC236}">
                <a16:creationId xmlns:a16="http://schemas.microsoft.com/office/drawing/2014/main" id="{739EE3F0-E7F8-4845-B936-77502DC3CCAD}"/>
              </a:ext>
            </a:extLst>
          </p:cNvPr>
          <p:cNvSpPr>
            <a:spLocks xmlns:a="http://schemas.openxmlformats.org/drawingml/2006/main" noGrp="1"/>
          </p:cNvSpPr>
          <p:nvPr/>
        </p:nvSpPr>
        <p:spPr>
          <a:xfrm xmlns:a="http://schemas.openxmlformats.org/drawingml/2006/main">
            <a:off x="1028700" y="5467350"/>
            <a:ext cx="1362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6247A5"/>
                </a:solidFill>
                <a:latin typeface="Arial"/>
                <a:ea typeface="Arial"/>
                <a:cs typeface="Arial"/>
              </a:defRPr>
            </a:pPr>
            <a:r>
              <a:rPr sz="1088" b="1">
                <a:solidFill>
                  <a:srgbClr val="6247A5"/>
                </a:solidFill>
                <a:latin typeface="Arial"/>
                <a:ea typeface="Arial"/>
                <a:cs typeface="Arial"/>
              </a:rPr>
              <a:t>Delivery</a:t>
            </a:r>
          </a:p>
        </p:txBody>
      </p:sp>
      <p:sp>
        <p:nvSpPr>
          <p:cNvPr id="32" name="">
            <a:extLst xmlns:a="http://schemas.openxmlformats.org/drawingml/2006/main">
              <a:ext uri="{FF2B5EF4-FFF2-40B4-BE49-F238E27FC236}">
                <a16:creationId xmlns:a16="http://schemas.microsoft.com/office/drawing/2014/main" id="{CB2799C9-4537-456C-ABD4-E93F7C14C094}"/>
              </a:ext>
            </a:extLst>
          </p:cNvPr>
          <p:cNvSpPr>
            <a:spLocks xmlns:a="http://schemas.openxmlformats.org/drawingml/2006/main" noGrp="1"/>
          </p:cNvSpPr>
          <p:nvPr/>
        </p:nvSpPr>
        <p:spPr>
          <a:xfrm xmlns:a="http://schemas.openxmlformats.org/drawingml/2006/main">
            <a:off x="1028700" y="5715000"/>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pnpm monorepo</a:t>
            </a:r>
          </a:p>
          <a:p xmlns:a="http://schemas.openxmlformats.org/drawingml/2006/main">
            <a:pPr algn="l">
              <a:lnSpc>
                <a:spcPct val="95000"/>
              </a:lnSpc>
              <a:buNone/>
              <a:defRPr sz="915" b="0">
                <a:solidFill>
                  <a:srgbClr val="172433"/>
                </a:solidFill>
                <a:latin typeface="Arial"/>
                <a:ea typeface="Arial"/>
                <a:cs typeface="Arial"/>
              </a:defRPr>
            </a:pPr>
            <a:r>
              <a:rPr sz="915" b="0">
                <a:solidFill>
                  <a:srgbClr val="172433"/>
                </a:solidFill>
                <a:latin typeface="Arial"/>
                <a:ea typeface="Arial"/>
                <a:cs typeface="Arial"/>
              </a:rPr>
              <a:t>Docker Compose, CI</a:t>
            </a:r>
          </a:p>
        </p:txBody>
      </p:sp>
      <p:sp>
        <p:nvSpPr>
          <p:cNvPr id="33" name="">
            <a:extLst xmlns:a="http://schemas.openxmlformats.org/drawingml/2006/main">
              <a:ext uri="{FF2B5EF4-FFF2-40B4-BE49-F238E27FC236}">
                <a16:creationId xmlns:a16="http://schemas.microsoft.com/office/drawing/2014/main" id="{60E26C7F-9E95-4177-9982-D468339E15DD}"/>
              </a:ext>
            </a:extLst>
          </p:cNvPr>
          <p:cNvSpPr>
            <a:spLocks xmlns:a="http://schemas.openxmlformats.org/drawingml/2006/main" noGrp="1"/>
          </p:cNvSpPr>
          <p:nvPr/>
        </p:nvSpPr>
        <p:spPr>
          <a:xfrm xmlns:a="http://schemas.openxmlformats.org/drawingml/2006/main">
            <a:off x="285750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6247A5"/>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6247A5"/>
                </a:solidFill>
                <a:latin typeface="Arial"/>
                <a:ea typeface="Arial"/>
                <a:cs typeface="Arial"/>
              </a:defRPr>
            </a:pPr>
            <a:r>
              <a:rPr sz="1200" b="1">
                <a:solidFill>
                  <a:srgbClr val="6247A5"/>
                </a:solidFill>
                <a:latin typeface="Arial"/>
                <a:ea typeface="Arial"/>
                <a:cs typeface="Arial"/>
              </a:rPr>
              <a:t>1</a:t>
            </a:r>
          </a:p>
        </p:txBody>
      </p:sp>
      <p:sp>
        <p:nvSpPr>
          <p:cNvPr id="34" name="">
            <a:extLst xmlns:a="http://schemas.openxmlformats.org/drawingml/2006/main">
              <a:ext uri="{FF2B5EF4-FFF2-40B4-BE49-F238E27FC236}">
                <a16:creationId xmlns:a16="http://schemas.microsoft.com/office/drawing/2014/main" id="{056CB8A3-68C8-44E3-97CD-954D71EB323F}"/>
              </a:ext>
            </a:extLst>
          </p:cNvPr>
          <p:cNvSpPr>
            <a:spLocks xmlns:a="http://schemas.openxmlformats.org/drawingml/2006/main" noGrp="1"/>
          </p:cNvSpPr>
          <p:nvPr/>
        </p:nvSpPr>
        <p:spPr>
          <a:xfrm xmlns:a="http://schemas.openxmlformats.org/drawingml/2006/main">
            <a:off x="276225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Plan</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capacity</a:t>
            </a:r>
          </a:p>
        </p:txBody>
      </p:sp>
      <p:sp>
        <p:nvSpPr>
          <p:cNvPr id="35" name="">
            <a:extLst xmlns:a="http://schemas.openxmlformats.org/drawingml/2006/main">
              <a:ext uri="{FF2B5EF4-FFF2-40B4-BE49-F238E27FC236}">
                <a16:creationId xmlns:a16="http://schemas.microsoft.com/office/drawing/2014/main" id="{42F1D53F-EF41-468C-BDB3-1D7D477C51C8}"/>
              </a:ext>
            </a:extLst>
          </p:cNvPr>
          <p:cNvSpPr>
            <a:spLocks xmlns:a="http://schemas.openxmlformats.org/drawingml/2006/main" noGrp="1"/>
          </p:cNvSpPr>
          <p:nvPr/>
        </p:nvSpPr>
        <p:spPr>
          <a:xfrm xmlns:a="http://schemas.openxmlformats.org/drawingml/2006/main">
            <a:off x="335280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36" name="">
            <a:extLst xmlns:a="http://schemas.openxmlformats.org/drawingml/2006/main">
              <a:ext uri="{FF2B5EF4-FFF2-40B4-BE49-F238E27FC236}">
                <a16:creationId xmlns:a16="http://schemas.microsoft.com/office/drawing/2014/main" id="{CA8A9156-C4FF-4E16-8129-C825810EC59E}"/>
              </a:ext>
            </a:extLst>
          </p:cNvPr>
          <p:cNvSpPr>
            <a:spLocks xmlns:a="http://schemas.openxmlformats.org/drawingml/2006/main" noGrp="1"/>
          </p:cNvSpPr>
          <p:nvPr/>
        </p:nvSpPr>
        <p:spPr>
          <a:xfrm xmlns:a="http://schemas.openxmlformats.org/drawingml/2006/main">
            <a:off x="363855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7A42"/>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267A42"/>
                </a:solidFill>
                <a:latin typeface="Arial"/>
                <a:ea typeface="Arial"/>
                <a:cs typeface="Arial"/>
              </a:defRPr>
            </a:pPr>
            <a:r>
              <a:rPr sz="1200" b="1">
                <a:solidFill>
                  <a:srgbClr val="267A42"/>
                </a:solidFill>
                <a:latin typeface="Arial"/>
                <a:ea typeface="Arial"/>
                <a:cs typeface="Arial"/>
              </a:rPr>
              <a:t>2</a:t>
            </a:r>
          </a:p>
        </p:txBody>
      </p:sp>
      <p:sp>
        <p:nvSpPr>
          <p:cNvPr id="37" name="">
            <a:extLst xmlns:a="http://schemas.openxmlformats.org/drawingml/2006/main">
              <a:ext uri="{FF2B5EF4-FFF2-40B4-BE49-F238E27FC236}">
                <a16:creationId xmlns:a16="http://schemas.microsoft.com/office/drawing/2014/main" id="{C11D72F9-EDA7-45D5-970D-6792EF6C9CE1}"/>
              </a:ext>
            </a:extLst>
          </p:cNvPr>
          <p:cNvSpPr>
            <a:spLocks xmlns:a="http://schemas.openxmlformats.org/drawingml/2006/main" noGrp="1"/>
          </p:cNvSpPr>
          <p:nvPr/>
        </p:nvSpPr>
        <p:spPr>
          <a:xfrm xmlns:a="http://schemas.openxmlformats.org/drawingml/2006/main">
            <a:off x="354330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Login or</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assist</a:t>
            </a:r>
          </a:p>
        </p:txBody>
      </p:sp>
      <p:sp>
        <p:nvSpPr>
          <p:cNvPr id="38" name="">
            <a:extLst xmlns:a="http://schemas.openxmlformats.org/drawingml/2006/main">
              <a:ext uri="{FF2B5EF4-FFF2-40B4-BE49-F238E27FC236}">
                <a16:creationId xmlns:a16="http://schemas.microsoft.com/office/drawing/2014/main" id="{50A57661-094C-4E9B-909A-105A3E172387}"/>
              </a:ext>
            </a:extLst>
          </p:cNvPr>
          <p:cNvSpPr>
            <a:spLocks xmlns:a="http://schemas.openxmlformats.org/drawingml/2006/main" noGrp="1"/>
          </p:cNvSpPr>
          <p:nvPr/>
        </p:nvSpPr>
        <p:spPr>
          <a:xfrm xmlns:a="http://schemas.openxmlformats.org/drawingml/2006/main">
            <a:off x="413385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39" name="">
            <a:extLst xmlns:a="http://schemas.openxmlformats.org/drawingml/2006/main">
              <a:ext uri="{FF2B5EF4-FFF2-40B4-BE49-F238E27FC236}">
                <a16:creationId xmlns:a16="http://schemas.microsoft.com/office/drawing/2014/main" id="{FF6B3E47-7D48-4F92-A096-39F496AF4ABE}"/>
              </a:ext>
            </a:extLst>
          </p:cNvPr>
          <p:cNvSpPr>
            <a:spLocks xmlns:a="http://schemas.openxmlformats.org/drawingml/2006/main" noGrp="1"/>
          </p:cNvSpPr>
          <p:nvPr/>
        </p:nvSpPr>
        <p:spPr>
          <a:xfrm xmlns:a="http://schemas.openxmlformats.org/drawingml/2006/main">
            <a:off x="441960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E276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E27600"/>
                </a:solidFill>
                <a:latin typeface="Arial"/>
                <a:ea typeface="Arial"/>
                <a:cs typeface="Arial"/>
              </a:defRPr>
            </a:pPr>
            <a:r>
              <a:rPr sz="1200" b="1">
                <a:solidFill>
                  <a:srgbClr val="E27600"/>
                </a:solidFill>
                <a:latin typeface="Arial"/>
                <a:ea typeface="Arial"/>
                <a:cs typeface="Arial"/>
              </a:rPr>
              <a:t>3</a:t>
            </a:r>
          </a:p>
        </p:txBody>
      </p:sp>
      <p:sp>
        <p:nvSpPr>
          <p:cNvPr id="40" name="">
            <a:extLst xmlns:a="http://schemas.openxmlformats.org/drawingml/2006/main">
              <a:ext uri="{FF2B5EF4-FFF2-40B4-BE49-F238E27FC236}">
                <a16:creationId xmlns:a16="http://schemas.microsoft.com/office/drawing/2014/main" id="{C5080008-F270-430E-A48E-81A02C1D89A2}"/>
              </a:ext>
            </a:extLst>
          </p:cNvPr>
          <p:cNvSpPr>
            <a:spLocks xmlns:a="http://schemas.openxmlformats.org/drawingml/2006/main" noGrp="1"/>
          </p:cNvSpPr>
          <p:nvPr/>
        </p:nvSpPr>
        <p:spPr>
          <a:xfrm xmlns:a="http://schemas.openxmlformats.org/drawingml/2006/main">
            <a:off x="432435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Book</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slot</a:t>
            </a:r>
          </a:p>
        </p:txBody>
      </p:sp>
      <p:sp>
        <p:nvSpPr>
          <p:cNvPr id="41" name="">
            <a:extLst xmlns:a="http://schemas.openxmlformats.org/drawingml/2006/main">
              <a:ext uri="{FF2B5EF4-FFF2-40B4-BE49-F238E27FC236}">
                <a16:creationId xmlns:a16="http://schemas.microsoft.com/office/drawing/2014/main" id="{5DEE620B-DAD8-47B4-808D-82ADFAD9631D}"/>
              </a:ext>
            </a:extLst>
          </p:cNvPr>
          <p:cNvSpPr>
            <a:spLocks xmlns:a="http://schemas.openxmlformats.org/drawingml/2006/main" noGrp="1"/>
          </p:cNvSpPr>
          <p:nvPr/>
        </p:nvSpPr>
        <p:spPr>
          <a:xfrm xmlns:a="http://schemas.openxmlformats.org/drawingml/2006/main">
            <a:off x="491490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42" name="">
            <a:extLst xmlns:a="http://schemas.openxmlformats.org/drawingml/2006/main">
              <a:ext uri="{FF2B5EF4-FFF2-40B4-BE49-F238E27FC236}">
                <a16:creationId xmlns:a16="http://schemas.microsoft.com/office/drawing/2014/main" id="{264D9228-E800-402D-99EF-3FD47F77C6A0}"/>
              </a:ext>
            </a:extLst>
          </p:cNvPr>
          <p:cNvSpPr>
            <a:spLocks xmlns:a="http://schemas.openxmlformats.org/drawingml/2006/main" noGrp="1"/>
          </p:cNvSpPr>
          <p:nvPr/>
        </p:nvSpPr>
        <p:spPr>
          <a:xfrm xmlns:a="http://schemas.openxmlformats.org/drawingml/2006/main">
            <a:off x="520065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467A1"/>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2467A1"/>
                </a:solidFill>
                <a:latin typeface="Arial"/>
                <a:ea typeface="Arial"/>
                <a:cs typeface="Arial"/>
              </a:defRPr>
            </a:pPr>
            <a:r>
              <a:rPr sz="1200" b="1">
                <a:solidFill>
                  <a:srgbClr val="2467A1"/>
                </a:solidFill>
                <a:latin typeface="Arial"/>
                <a:ea typeface="Arial"/>
                <a:cs typeface="Arial"/>
              </a:rPr>
              <a:t>4</a:t>
            </a:r>
          </a:p>
        </p:txBody>
      </p:sp>
      <p:sp>
        <p:nvSpPr>
          <p:cNvPr id="43" name="">
            <a:extLst xmlns:a="http://schemas.openxmlformats.org/drawingml/2006/main">
              <a:ext uri="{FF2B5EF4-FFF2-40B4-BE49-F238E27FC236}">
                <a16:creationId xmlns:a16="http://schemas.microsoft.com/office/drawing/2014/main" id="{314BEB0B-F0D5-48FF-A8DC-56109173FB4A}"/>
              </a:ext>
            </a:extLst>
          </p:cNvPr>
          <p:cNvSpPr>
            <a:spLocks xmlns:a="http://schemas.openxmlformats.org/drawingml/2006/main" noGrp="1"/>
          </p:cNvSpPr>
          <p:nvPr/>
        </p:nvSpPr>
        <p:spPr>
          <a:xfrm xmlns:a="http://schemas.openxmlformats.org/drawingml/2006/main">
            <a:off x="510540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Track</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queue</a:t>
            </a:r>
          </a:p>
        </p:txBody>
      </p:sp>
      <p:sp>
        <p:nvSpPr>
          <p:cNvPr id="44" name="">
            <a:extLst xmlns:a="http://schemas.openxmlformats.org/drawingml/2006/main">
              <a:ext uri="{FF2B5EF4-FFF2-40B4-BE49-F238E27FC236}">
                <a16:creationId xmlns:a16="http://schemas.microsoft.com/office/drawing/2014/main" id="{10D7BD7C-96F9-473A-B959-33C24C74439F}"/>
              </a:ext>
            </a:extLst>
          </p:cNvPr>
          <p:cNvSpPr>
            <a:spLocks xmlns:a="http://schemas.openxmlformats.org/drawingml/2006/main" noGrp="1"/>
          </p:cNvSpPr>
          <p:nvPr/>
        </p:nvSpPr>
        <p:spPr>
          <a:xfrm xmlns:a="http://schemas.openxmlformats.org/drawingml/2006/main">
            <a:off x="569595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45" name="">
            <a:extLst xmlns:a="http://schemas.openxmlformats.org/drawingml/2006/main">
              <a:ext uri="{FF2B5EF4-FFF2-40B4-BE49-F238E27FC236}">
                <a16:creationId xmlns:a16="http://schemas.microsoft.com/office/drawing/2014/main" id="{5D7EBE31-3D48-4462-BABD-D32AA9C4DD05}"/>
              </a:ext>
            </a:extLst>
          </p:cNvPr>
          <p:cNvSpPr>
            <a:spLocks xmlns:a="http://schemas.openxmlformats.org/drawingml/2006/main" noGrp="1"/>
          </p:cNvSpPr>
          <p:nvPr/>
        </p:nvSpPr>
        <p:spPr>
          <a:xfrm xmlns:a="http://schemas.openxmlformats.org/drawingml/2006/main">
            <a:off x="598170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3C66"/>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173C66"/>
                </a:solidFill>
                <a:latin typeface="Arial"/>
                <a:ea typeface="Arial"/>
                <a:cs typeface="Arial"/>
              </a:defRPr>
            </a:pPr>
            <a:r>
              <a:rPr sz="1200" b="1">
                <a:solidFill>
                  <a:srgbClr val="173C66"/>
                </a:solidFill>
                <a:latin typeface="Arial"/>
                <a:ea typeface="Arial"/>
                <a:cs typeface="Arial"/>
              </a:rPr>
              <a:t>5</a:t>
            </a:r>
          </a:p>
        </p:txBody>
      </p:sp>
      <p:sp>
        <p:nvSpPr>
          <p:cNvPr id="46" name="">
            <a:extLst xmlns:a="http://schemas.openxmlformats.org/drawingml/2006/main">
              <a:ext uri="{FF2B5EF4-FFF2-40B4-BE49-F238E27FC236}">
                <a16:creationId xmlns:a16="http://schemas.microsoft.com/office/drawing/2014/main" id="{8A315CAF-D878-4993-B9A0-B921658F273B}"/>
              </a:ext>
            </a:extLst>
          </p:cNvPr>
          <p:cNvSpPr>
            <a:spLocks xmlns:a="http://schemas.openxmlformats.org/drawingml/2006/main" noGrp="1"/>
          </p:cNvSpPr>
          <p:nvPr/>
        </p:nvSpPr>
        <p:spPr>
          <a:xfrm xmlns:a="http://schemas.openxmlformats.org/drawingml/2006/main">
            <a:off x="588645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Gate</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entry</a:t>
            </a:r>
          </a:p>
        </p:txBody>
      </p:sp>
      <p:sp>
        <p:nvSpPr>
          <p:cNvPr id="47" name="">
            <a:extLst xmlns:a="http://schemas.openxmlformats.org/drawingml/2006/main">
              <a:ext uri="{FF2B5EF4-FFF2-40B4-BE49-F238E27FC236}">
                <a16:creationId xmlns:a16="http://schemas.microsoft.com/office/drawing/2014/main" id="{D87D26EE-C2BE-41E3-8DF4-0881E447DB36}"/>
              </a:ext>
            </a:extLst>
          </p:cNvPr>
          <p:cNvSpPr>
            <a:spLocks xmlns:a="http://schemas.openxmlformats.org/drawingml/2006/main" noGrp="1"/>
          </p:cNvSpPr>
          <p:nvPr/>
        </p:nvSpPr>
        <p:spPr>
          <a:xfrm xmlns:a="http://schemas.openxmlformats.org/drawingml/2006/main">
            <a:off x="647700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48" name="">
            <a:extLst xmlns:a="http://schemas.openxmlformats.org/drawingml/2006/main">
              <a:ext uri="{FF2B5EF4-FFF2-40B4-BE49-F238E27FC236}">
                <a16:creationId xmlns:a16="http://schemas.microsoft.com/office/drawing/2014/main" id="{5D15015D-DEE6-49B4-AE30-1A7376053AF7}"/>
              </a:ext>
            </a:extLst>
          </p:cNvPr>
          <p:cNvSpPr>
            <a:spLocks xmlns:a="http://schemas.openxmlformats.org/drawingml/2006/main" noGrp="1"/>
          </p:cNvSpPr>
          <p:nvPr/>
        </p:nvSpPr>
        <p:spPr>
          <a:xfrm xmlns:a="http://schemas.openxmlformats.org/drawingml/2006/main">
            <a:off x="676275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E276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E27600"/>
                </a:solidFill>
                <a:latin typeface="Arial"/>
                <a:ea typeface="Arial"/>
                <a:cs typeface="Arial"/>
              </a:defRPr>
            </a:pPr>
            <a:r>
              <a:rPr sz="1200" b="1">
                <a:solidFill>
                  <a:srgbClr val="E27600"/>
                </a:solidFill>
                <a:latin typeface="Arial"/>
                <a:ea typeface="Arial"/>
                <a:cs typeface="Arial"/>
              </a:rPr>
              <a:t>6</a:t>
            </a:r>
          </a:p>
        </p:txBody>
      </p:sp>
      <p:sp>
        <p:nvSpPr>
          <p:cNvPr id="49" name="">
            <a:extLst xmlns:a="http://schemas.openxmlformats.org/drawingml/2006/main">
              <a:ext uri="{FF2B5EF4-FFF2-40B4-BE49-F238E27FC236}">
                <a16:creationId xmlns:a16="http://schemas.microsoft.com/office/drawing/2014/main" id="{A7F9ED14-5026-4E9D-BFDA-FF277CF360E5}"/>
              </a:ext>
            </a:extLst>
          </p:cNvPr>
          <p:cNvSpPr>
            <a:spLocks xmlns:a="http://schemas.openxmlformats.org/drawingml/2006/main" noGrp="1"/>
          </p:cNvSpPr>
          <p:nvPr/>
        </p:nvSpPr>
        <p:spPr>
          <a:xfrm xmlns:a="http://schemas.openxmlformats.org/drawingml/2006/main">
            <a:off x="666750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Weigh</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and QC</a:t>
            </a:r>
          </a:p>
        </p:txBody>
      </p:sp>
      <p:sp>
        <p:nvSpPr>
          <p:cNvPr id="50" name="">
            <a:extLst xmlns:a="http://schemas.openxmlformats.org/drawingml/2006/main">
              <a:ext uri="{FF2B5EF4-FFF2-40B4-BE49-F238E27FC236}">
                <a16:creationId xmlns:a16="http://schemas.microsoft.com/office/drawing/2014/main" id="{239D758A-FF4C-440C-836B-76EE22E99DEB}"/>
              </a:ext>
            </a:extLst>
          </p:cNvPr>
          <p:cNvSpPr>
            <a:spLocks xmlns:a="http://schemas.openxmlformats.org/drawingml/2006/main" noGrp="1"/>
          </p:cNvSpPr>
          <p:nvPr/>
        </p:nvSpPr>
        <p:spPr>
          <a:xfrm xmlns:a="http://schemas.openxmlformats.org/drawingml/2006/main">
            <a:off x="725805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51" name="">
            <a:extLst xmlns:a="http://schemas.openxmlformats.org/drawingml/2006/main">
              <a:ext uri="{FF2B5EF4-FFF2-40B4-BE49-F238E27FC236}">
                <a16:creationId xmlns:a16="http://schemas.microsoft.com/office/drawing/2014/main" id="{65DE6E43-AD24-4AAF-BD2E-9435A5081F95}"/>
              </a:ext>
            </a:extLst>
          </p:cNvPr>
          <p:cNvSpPr>
            <a:spLocks xmlns:a="http://schemas.openxmlformats.org/drawingml/2006/main" noGrp="1"/>
          </p:cNvSpPr>
          <p:nvPr/>
        </p:nvSpPr>
        <p:spPr>
          <a:xfrm xmlns:a="http://schemas.openxmlformats.org/drawingml/2006/main">
            <a:off x="754380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7A42"/>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267A42"/>
                </a:solidFill>
                <a:latin typeface="Arial"/>
                <a:ea typeface="Arial"/>
                <a:cs typeface="Arial"/>
              </a:defRPr>
            </a:pPr>
            <a:r>
              <a:rPr sz="1200" b="1">
                <a:solidFill>
                  <a:srgbClr val="267A42"/>
                </a:solidFill>
                <a:latin typeface="Arial"/>
                <a:ea typeface="Arial"/>
                <a:cs typeface="Arial"/>
              </a:rPr>
              <a:t>7</a:t>
            </a:r>
          </a:p>
        </p:txBody>
      </p:sp>
      <p:sp>
        <p:nvSpPr>
          <p:cNvPr id="52" name="">
            <a:extLst xmlns:a="http://schemas.openxmlformats.org/drawingml/2006/main">
              <a:ext uri="{FF2B5EF4-FFF2-40B4-BE49-F238E27FC236}">
                <a16:creationId xmlns:a16="http://schemas.microsoft.com/office/drawing/2014/main" id="{7EC650C5-570D-4F45-980F-592E28E5133A}"/>
              </a:ext>
            </a:extLst>
          </p:cNvPr>
          <p:cNvSpPr>
            <a:spLocks xmlns:a="http://schemas.openxmlformats.org/drawingml/2006/main" noGrp="1"/>
          </p:cNvSpPr>
          <p:nvPr/>
        </p:nvSpPr>
        <p:spPr>
          <a:xfrm xmlns:a="http://schemas.openxmlformats.org/drawingml/2006/main">
            <a:off x="744855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Accept</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lot</a:t>
            </a:r>
          </a:p>
        </p:txBody>
      </p:sp>
      <p:sp>
        <p:nvSpPr>
          <p:cNvPr id="53" name="">
            <a:extLst xmlns:a="http://schemas.openxmlformats.org/drawingml/2006/main">
              <a:ext uri="{FF2B5EF4-FFF2-40B4-BE49-F238E27FC236}">
                <a16:creationId xmlns:a16="http://schemas.microsoft.com/office/drawing/2014/main" id="{B0E6FEC7-3C10-4957-A9A5-3A83451DF9ED}"/>
              </a:ext>
            </a:extLst>
          </p:cNvPr>
          <p:cNvSpPr>
            <a:spLocks xmlns:a="http://schemas.openxmlformats.org/drawingml/2006/main" noGrp="1"/>
          </p:cNvSpPr>
          <p:nvPr/>
        </p:nvSpPr>
        <p:spPr>
          <a:xfrm xmlns:a="http://schemas.openxmlformats.org/drawingml/2006/main">
            <a:off x="8039100" y="1619250"/>
            <a:ext cx="171450" cy="142875"/>
          </a:xfrm>
          <a:prstGeom xmlns:a="http://schemas.openxmlformats.org/drawingml/2006/main" prst="chevron">
            <a:avLst/>
          </a:prstGeom>
          <a:solidFill xmlns:a="http://schemas.openxmlformats.org/drawingml/2006/main">
            <a:srgbClr val="55748F"/>
          </a:solidFill>
          <a:ln xmlns:a="http://schemas.openxmlformats.org/drawingml/2006/main" w="0">
            <a:solidFill>
              <a:srgbClr val="55748F"/>
            </a:solidFill>
          </a:ln>
        </p:spPr>
      </p:sp>
      <p:sp>
        <p:nvSpPr>
          <p:cNvPr id="54" name="">
            <a:extLst xmlns:a="http://schemas.openxmlformats.org/drawingml/2006/main">
              <a:ext uri="{FF2B5EF4-FFF2-40B4-BE49-F238E27FC236}">
                <a16:creationId xmlns:a16="http://schemas.microsoft.com/office/drawing/2014/main" id="{33FF9E9B-2FA6-4022-9E36-B2E28730603D}"/>
              </a:ext>
            </a:extLst>
          </p:cNvPr>
          <p:cNvSpPr>
            <a:spLocks xmlns:a="http://schemas.openxmlformats.org/drawingml/2006/main" noGrp="1"/>
          </p:cNvSpPr>
          <p:nvPr/>
        </p:nvSpPr>
        <p:spPr>
          <a:xfrm xmlns:a="http://schemas.openxmlformats.org/drawingml/2006/main">
            <a:off x="8324850" y="14954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467A1"/>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2467A1"/>
                </a:solidFill>
                <a:latin typeface="Arial"/>
                <a:ea typeface="Arial"/>
                <a:cs typeface="Arial"/>
              </a:defRPr>
            </a:pPr>
            <a:r>
              <a:rPr sz="1200" b="1">
                <a:solidFill>
                  <a:srgbClr val="2467A1"/>
                </a:solidFill>
                <a:latin typeface="Arial"/>
                <a:ea typeface="Arial"/>
                <a:cs typeface="Arial"/>
              </a:rPr>
              <a:t>8</a:t>
            </a:r>
          </a:p>
        </p:txBody>
      </p:sp>
      <p:sp>
        <p:nvSpPr>
          <p:cNvPr id="55" name="">
            <a:extLst xmlns:a="http://schemas.openxmlformats.org/drawingml/2006/main">
              <a:ext uri="{FF2B5EF4-FFF2-40B4-BE49-F238E27FC236}">
                <a16:creationId xmlns:a16="http://schemas.microsoft.com/office/drawing/2014/main" id="{5F612F47-2B11-4BA8-9C19-2454210D4892}"/>
              </a:ext>
            </a:extLst>
          </p:cNvPr>
          <p:cNvSpPr>
            <a:spLocks xmlns:a="http://schemas.openxmlformats.org/drawingml/2006/main" noGrp="1"/>
          </p:cNvSpPr>
          <p:nvPr/>
        </p:nvSpPr>
        <p:spPr>
          <a:xfrm xmlns:a="http://schemas.openxmlformats.org/drawingml/2006/main">
            <a:off x="8229600" y="1924050"/>
            <a:ext cx="590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Settle</a:t>
            </a:r>
          </a:p>
          <a:p xmlns:a="http://schemas.openxmlformats.org/drawingml/2006/main">
            <a:pPr algn="ctr">
              <a:lnSpc>
                <a:spcPct val="100000"/>
              </a:lnSpc>
              <a:buNone/>
              <a:defRPr sz="840" b="1">
                <a:solidFill>
                  <a:srgbClr val="172433"/>
                </a:solidFill>
                <a:latin typeface="Arial"/>
                <a:ea typeface="Arial"/>
                <a:cs typeface="Arial"/>
              </a:defRPr>
            </a:pPr>
            <a:r>
              <a:rPr sz="840" b="1">
                <a:solidFill>
                  <a:srgbClr val="172433"/>
                </a:solidFill>
                <a:latin typeface="Arial"/>
                <a:ea typeface="Arial"/>
                <a:cs typeface="Arial"/>
              </a:rPr>
              <a:t>payment</a:t>
            </a:r>
          </a:p>
        </p:txBody>
      </p:sp>
      <p:sp>
        <p:nvSpPr>
          <p:cNvPr id="56" name="">
            <a:extLst xmlns:a="http://schemas.openxmlformats.org/drawingml/2006/main">
              <a:ext uri="{FF2B5EF4-FFF2-40B4-BE49-F238E27FC236}">
                <a16:creationId xmlns:a16="http://schemas.microsoft.com/office/drawing/2014/main" id="{EA8AA3AF-3604-4698-8BD7-40581A9B64AE}"/>
              </a:ext>
            </a:extLst>
          </p:cNvPr>
          <p:cNvSpPr>
            <a:spLocks xmlns:a="http://schemas.openxmlformats.org/drawingml/2006/main" noGrp="1"/>
          </p:cNvSpPr>
          <p:nvPr/>
        </p:nvSpPr>
        <p:spPr>
          <a:xfrm xmlns:a="http://schemas.openxmlformats.org/drawingml/2006/main">
            <a:off x="4619625" y="2457450"/>
            <a:ext cx="2667000" cy="266700"/>
          </a:xfrm>
          <a:prstGeom xmlns:a="http://schemas.openxmlformats.org/drawingml/2006/main" prst="roundRect">
            <a:avLst>
              <a:gd name="adj" fmla="val 21429"/>
            </a:avLst>
          </a:prstGeom>
          <a:solidFill xmlns:a="http://schemas.openxmlformats.org/drawingml/2006/main">
            <a:srgbClr val="2467A1"/>
          </a:solidFill>
          <a:ln xmlns:a="http://schemas.openxmlformats.org/drawingml/2006/main" w="0">
            <a:solidFill>
              <a:srgbClr val="2467A1"/>
            </a:solidFill>
          </a:ln>
        </p:spPr>
        <p:txBody>
          <a:bodyPr xmlns:a="http://schemas.openxmlformats.org/drawingml/2006/main" lIns="47625" tIns="0" rIns="47625" bIns="0" anchor="ctr">
            <a:normAutofit fontScale="100000"/>
          </a:bodyPr>
          <a:lstStyle xmlns:a="http://schemas.openxmlformats.org/drawingml/2006/main"/>
          <a:p xmlns:a="http://schemas.openxmlformats.org/drawingml/2006/main">
            <a:pPr algn="ctr">
              <a:defRPr sz="990" b="1">
                <a:solidFill>
                  <a:srgbClr val="FFFFFF"/>
                </a:solidFill>
                <a:latin typeface="Arial"/>
                <a:ea typeface="Arial"/>
                <a:cs typeface="Arial"/>
              </a:defRPr>
            </a:pPr>
            <a:r>
              <a:rPr sz="990" b="1">
                <a:solidFill>
                  <a:srgbClr val="FFFFFF"/>
                </a:solidFill>
                <a:latin typeface="Arial"/>
                <a:ea typeface="Arial"/>
                <a:cs typeface="Arial"/>
              </a:rPr>
              <a:t>SYSTEM ARCHITECTURE</a:t>
            </a:r>
          </a:p>
        </p:txBody>
      </p:sp>
      <p:sp>
        <p:nvSpPr>
          <p:cNvPr id="57" name="">
            <a:extLst xmlns:a="http://schemas.openxmlformats.org/drawingml/2006/main">
              <a:ext uri="{FF2B5EF4-FFF2-40B4-BE49-F238E27FC236}">
                <a16:creationId xmlns:a16="http://schemas.microsoft.com/office/drawing/2014/main" id="{D8E8B32C-BA18-4DB8-9700-5B087A68B8EC}"/>
              </a:ext>
            </a:extLst>
          </p:cNvPr>
          <p:cNvSpPr>
            <a:spLocks xmlns:a="http://schemas.openxmlformats.org/drawingml/2006/main" noGrp="1"/>
          </p:cNvSpPr>
          <p:nvPr/>
        </p:nvSpPr>
        <p:spPr>
          <a:xfrm xmlns:a="http://schemas.openxmlformats.org/drawingml/2006/main">
            <a:off x="2867025" y="2790825"/>
            <a:ext cx="742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88" b="1">
                <a:solidFill>
                  <a:srgbClr val="267A42"/>
                </a:solidFill>
                <a:latin typeface="Arial"/>
                <a:ea typeface="Arial"/>
                <a:cs typeface="Arial"/>
              </a:defRPr>
            </a:pPr>
            <a:r>
              <a:rPr sz="788" b="1">
                <a:solidFill>
                  <a:srgbClr val="267A42"/>
                </a:solidFill>
                <a:latin typeface="Arial"/>
                <a:ea typeface="Arial"/>
                <a:cs typeface="Arial"/>
              </a:rPr>
              <a:t>ACCESS</a:t>
            </a:r>
          </a:p>
        </p:txBody>
      </p:sp>
      <p:sp>
        <p:nvSpPr>
          <p:cNvPr id="58" name="">
            <a:extLst xmlns:a="http://schemas.openxmlformats.org/drawingml/2006/main">
              <a:ext uri="{FF2B5EF4-FFF2-40B4-BE49-F238E27FC236}">
                <a16:creationId xmlns:a16="http://schemas.microsoft.com/office/drawing/2014/main" id="{6AF4508F-644E-4D99-9CF6-79655A78E811}"/>
              </a:ext>
            </a:extLst>
          </p:cNvPr>
          <p:cNvSpPr>
            <a:spLocks xmlns:a="http://schemas.openxmlformats.org/drawingml/2006/main" noGrp="1"/>
          </p:cNvSpPr>
          <p:nvPr/>
        </p:nvSpPr>
        <p:spPr>
          <a:xfrm xmlns:a="http://schemas.openxmlformats.org/drawingml/2006/main">
            <a:off x="2857500" y="3000375"/>
            <a:ext cx="1381125" cy="342900"/>
          </a:xfrm>
          <a:prstGeom xmlns:a="http://schemas.openxmlformats.org/drawingml/2006/main" prst="roundRect">
            <a:avLst>
              <a:gd name="adj" fmla="val 22222"/>
            </a:avLst>
          </a:prstGeom>
          <a:solidFill xmlns:a="http://schemas.openxmlformats.org/drawingml/2006/main">
            <a:srgbClr val="EDF7EE"/>
          </a:solidFill>
          <a:ln xmlns:a="http://schemas.openxmlformats.org/drawingml/2006/main" w="11430">
            <a:solidFill>
              <a:srgbClr val="8CBF9B"/>
            </a:solidFill>
            <a:prstDash val="solid"/>
          </a:ln>
        </p:spPr>
      </p:sp>
      <p:sp>
        <p:nvSpPr>
          <p:cNvPr id="59" name="">
            <a:extLst xmlns:a="http://schemas.openxmlformats.org/drawingml/2006/main">
              <a:ext uri="{FF2B5EF4-FFF2-40B4-BE49-F238E27FC236}">
                <a16:creationId xmlns:a16="http://schemas.microsoft.com/office/drawing/2014/main" id="{1B3115DC-472D-4DBF-9A27-9134AE0F451F}"/>
              </a:ext>
            </a:extLst>
          </p:cNvPr>
          <p:cNvSpPr>
            <a:spLocks xmlns:a="http://schemas.openxmlformats.org/drawingml/2006/main" noGrp="1"/>
          </p:cNvSpPr>
          <p:nvPr/>
        </p:nvSpPr>
        <p:spPr>
          <a:xfrm xmlns:a="http://schemas.openxmlformats.org/drawingml/2006/main">
            <a:off x="2924175" y="3048000"/>
            <a:ext cx="1247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15" b="1">
                <a:solidFill>
                  <a:srgbClr val="172433"/>
                </a:solidFill>
                <a:latin typeface="Arial"/>
                <a:ea typeface="Arial"/>
                <a:cs typeface="Arial"/>
              </a:defRPr>
            </a:pPr>
            <a:r>
              <a:rPr sz="915" b="1">
                <a:solidFill>
                  <a:srgbClr val="172433"/>
                </a:solidFill>
                <a:latin typeface="Arial"/>
                <a:ea typeface="Arial"/>
                <a:cs typeface="Arial"/>
              </a:rPr>
              <a:t>Farmer PWA</a:t>
            </a:r>
          </a:p>
        </p:txBody>
      </p:sp>
      <p:sp>
        <p:nvSpPr>
          <p:cNvPr id="60" name="">
            <a:extLst xmlns:a="http://schemas.openxmlformats.org/drawingml/2006/main">
              <a:ext uri="{FF2B5EF4-FFF2-40B4-BE49-F238E27FC236}">
                <a16:creationId xmlns:a16="http://schemas.microsoft.com/office/drawing/2014/main" id="{A1B64A80-9ACF-4094-B175-5874AE06DBAB}"/>
              </a:ext>
            </a:extLst>
          </p:cNvPr>
          <p:cNvSpPr>
            <a:spLocks xmlns:a="http://schemas.openxmlformats.org/drawingml/2006/main" noGrp="1"/>
          </p:cNvSpPr>
          <p:nvPr/>
        </p:nvSpPr>
        <p:spPr>
          <a:xfrm xmlns:a="http://schemas.openxmlformats.org/drawingml/2006/main">
            <a:off x="4400550" y="3000375"/>
            <a:ext cx="1381125" cy="342900"/>
          </a:xfrm>
          <a:prstGeom xmlns:a="http://schemas.openxmlformats.org/drawingml/2006/main" prst="roundRect">
            <a:avLst>
              <a:gd name="adj" fmla="val 22222"/>
            </a:avLst>
          </a:prstGeom>
          <a:solidFill xmlns:a="http://schemas.openxmlformats.org/drawingml/2006/main">
            <a:srgbClr val="FFF3E3"/>
          </a:solidFill>
          <a:ln xmlns:a="http://schemas.openxmlformats.org/drawingml/2006/main" w="11430">
            <a:solidFill>
              <a:srgbClr val="EBB36D"/>
            </a:solidFill>
            <a:prstDash val="solid"/>
          </a:ln>
        </p:spPr>
      </p:sp>
      <p:sp>
        <p:nvSpPr>
          <p:cNvPr id="61" name="">
            <a:extLst xmlns:a="http://schemas.openxmlformats.org/drawingml/2006/main">
              <a:ext uri="{FF2B5EF4-FFF2-40B4-BE49-F238E27FC236}">
                <a16:creationId xmlns:a16="http://schemas.microsoft.com/office/drawing/2014/main" id="{3637BA11-B59F-477A-B990-BAEBEB86F2DE}"/>
              </a:ext>
            </a:extLst>
          </p:cNvPr>
          <p:cNvSpPr>
            <a:spLocks xmlns:a="http://schemas.openxmlformats.org/drawingml/2006/main" noGrp="1"/>
          </p:cNvSpPr>
          <p:nvPr/>
        </p:nvSpPr>
        <p:spPr>
          <a:xfrm xmlns:a="http://schemas.openxmlformats.org/drawingml/2006/main">
            <a:off x="4467225" y="3048000"/>
            <a:ext cx="1247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15" b="1">
                <a:solidFill>
                  <a:srgbClr val="172433"/>
                </a:solidFill>
                <a:latin typeface="Arial"/>
                <a:ea typeface="Arial"/>
                <a:cs typeface="Arial"/>
              </a:defRPr>
            </a:pPr>
            <a:r>
              <a:rPr sz="915" b="1">
                <a:solidFill>
                  <a:srgbClr val="172433"/>
                </a:solidFill>
                <a:latin typeface="Arial"/>
                <a:ea typeface="Arial"/>
                <a:cs typeface="Arial"/>
              </a:rPr>
              <a:t>Phone / USSD / IVR</a:t>
            </a:r>
          </a:p>
        </p:txBody>
      </p:sp>
      <p:sp>
        <p:nvSpPr>
          <p:cNvPr id="62" name="">
            <a:extLst xmlns:a="http://schemas.openxmlformats.org/drawingml/2006/main">
              <a:ext uri="{FF2B5EF4-FFF2-40B4-BE49-F238E27FC236}">
                <a16:creationId xmlns:a16="http://schemas.microsoft.com/office/drawing/2014/main" id="{E2FB5BF5-4292-4E74-A3EE-316F7705A7FC}"/>
              </a:ext>
            </a:extLst>
          </p:cNvPr>
          <p:cNvSpPr>
            <a:spLocks xmlns:a="http://schemas.openxmlformats.org/drawingml/2006/main" noGrp="1"/>
          </p:cNvSpPr>
          <p:nvPr/>
        </p:nvSpPr>
        <p:spPr>
          <a:xfrm xmlns:a="http://schemas.openxmlformats.org/drawingml/2006/main">
            <a:off x="5943600" y="3000375"/>
            <a:ext cx="1381125" cy="342900"/>
          </a:xfrm>
          <a:prstGeom xmlns:a="http://schemas.openxmlformats.org/drawingml/2006/main" prst="roundRect">
            <a:avLst>
              <a:gd name="adj" fmla="val 22222"/>
            </a:avLst>
          </a:prstGeom>
          <a:solidFill xmlns:a="http://schemas.openxmlformats.org/drawingml/2006/main">
            <a:srgbClr val="EDF7EE"/>
          </a:solidFill>
          <a:ln xmlns:a="http://schemas.openxmlformats.org/drawingml/2006/main" w="11430">
            <a:solidFill>
              <a:srgbClr val="8CBF9B"/>
            </a:solidFill>
            <a:prstDash val="solid"/>
          </a:ln>
        </p:spPr>
      </p:sp>
      <p:sp>
        <p:nvSpPr>
          <p:cNvPr id="63" name="">
            <a:extLst xmlns:a="http://schemas.openxmlformats.org/drawingml/2006/main">
              <a:ext uri="{FF2B5EF4-FFF2-40B4-BE49-F238E27FC236}">
                <a16:creationId xmlns:a16="http://schemas.microsoft.com/office/drawing/2014/main" id="{DC8B65AE-7AB1-44A0-AD7E-75B829761BDA}"/>
              </a:ext>
            </a:extLst>
          </p:cNvPr>
          <p:cNvSpPr>
            <a:spLocks xmlns:a="http://schemas.openxmlformats.org/drawingml/2006/main" noGrp="1"/>
          </p:cNvSpPr>
          <p:nvPr/>
        </p:nvSpPr>
        <p:spPr>
          <a:xfrm xmlns:a="http://schemas.openxmlformats.org/drawingml/2006/main">
            <a:off x="6010275" y="3048000"/>
            <a:ext cx="1247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15" b="1">
                <a:solidFill>
                  <a:srgbClr val="172433"/>
                </a:solidFill>
                <a:latin typeface="Arial"/>
                <a:ea typeface="Arial"/>
                <a:cs typeface="Arial"/>
              </a:defRPr>
            </a:pPr>
            <a:r>
              <a:rPr sz="915" b="1">
                <a:solidFill>
                  <a:srgbClr val="172433"/>
                </a:solidFill>
                <a:latin typeface="Arial"/>
                <a:ea typeface="Arial"/>
                <a:cs typeface="Arial"/>
              </a:rPr>
              <a:t>Center console</a:t>
            </a:r>
          </a:p>
        </p:txBody>
      </p:sp>
      <p:sp>
        <p:nvSpPr>
          <p:cNvPr id="64" name="">
            <a:extLst xmlns:a="http://schemas.openxmlformats.org/drawingml/2006/main">
              <a:ext uri="{FF2B5EF4-FFF2-40B4-BE49-F238E27FC236}">
                <a16:creationId xmlns:a16="http://schemas.microsoft.com/office/drawing/2014/main" id="{6D468166-A328-4664-AC59-1A12734BDF36}"/>
              </a:ext>
            </a:extLst>
          </p:cNvPr>
          <p:cNvSpPr>
            <a:spLocks xmlns:a="http://schemas.openxmlformats.org/drawingml/2006/main" noGrp="1"/>
          </p:cNvSpPr>
          <p:nvPr/>
        </p:nvSpPr>
        <p:spPr>
          <a:xfrm xmlns:a="http://schemas.openxmlformats.org/drawingml/2006/main">
            <a:off x="7486650" y="3000375"/>
            <a:ext cx="1381125" cy="342900"/>
          </a:xfrm>
          <a:prstGeom xmlns:a="http://schemas.openxmlformats.org/drawingml/2006/main" prst="roundRect">
            <a:avLst>
              <a:gd name="adj" fmla="val 22222"/>
            </a:avLst>
          </a:prstGeom>
          <a:solidFill xmlns:a="http://schemas.openxmlformats.org/drawingml/2006/main">
            <a:srgbClr val="FFF3E3"/>
          </a:solidFill>
          <a:ln xmlns:a="http://schemas.openxmlformats.org/drawingml/2006/main" w="11430">
            <a:solidFill>
              <a:srgbClr val="EBB36D"/>
            </a:solidFill>
            <a:prstDash val="solid"/>
          </a:ln>
        </p:spPr>
      </p:sp>
      <p:sp>
        <p:nvSpPr>
          <p:cNvPr id="65" name="">
            <a:extLst xmlns:a="http://schemas.openxmlformats.org/drawingml/2006/main">
              <a:ext uri="{FF2B5EF4-FFF2-40B4-BE49-F238E27FC236}">
                <a16:creationId xmlns:a16="http://schemas.microsoft.com/office/drawing/2014/main" id="{DD09B30E-6F6E-4EA9-96A3-4D0D729E5E4D}"/>
              </a:ext>
            </a:extLst>
          </p:cNvPr>
          <p:cNvSpPr>
            <a:spLocks xmlns:a="http://schemas.openxmlformats.org/drawingml/2006/main" noGrp="1"/>
          </p:cNvSpPr>
          <p:nvPr/>
        </p:nvSpPr>
        <p:spPr>
          <a:xfrm xmlns:a="http://schemas.openxmlformats.org/drawingml/2006/main">
            <a:off x="7553325" y="3048000"/>
            <a:ext cx="12477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15" b="1">
                <a:solidFill>
                  <a:srgbClr val="172433"/>
                </a:solidFill>
                <a:latin typeface="Arial"/>
                <a:ea typeface="Arial"/>
                <a:cs typeface="Arial"/>
              </a:defRPr>
            </a:pPr>
            <a:r>
              <a:rPr sz="915" b="1">
                <a:solidFill>
                  <a:srgbClr val="172433"/>
                </a:solidFill>
                <a:latin typeface="Arial"/>
                <a:ea typeface="Arial"/>
                <a:cs typeface="Arial"/>
              </a:rPr>
              <a:t>Admin dashboard</a:t>
            </a:r>
          </a:p>
        </p:txBody>
      </p:sp>
      <p:sp>
        <p:nvSpPr>
          <p:cNvPr id="66" name="">
            <a:extLst xmlns:a="http://schemas.openxmlformats.org/drawingml/2006/main">
              <a:ext uri="{FF2B5EF4-FFF2-40B4-BE49-F238E27FC236}">
                <a16:creationId xmlns:a16="http://schemas.microsoft.com/office/drawing/2014/main" id="{5644A799-EB76-44AF-9772-5BC1E4CABCFD}"/>
              </a:ext>
            </a:extLst>
          </p:cNvPr>
          <p:cNvSpPr>
            <a:spLocks xmlns:a="http://schemas.openxmlformats.org/drawingml/2006/main" noGrp="1"/>
          </p:cNvSpPr>
          <p:nvPr/>
        </p:nvSpPr>
        <p:spPr>
          <a:xfrm xmlns:a="http://schemas.openxmlformats.org/drawingml/2006/main">
            <a:off x="2952750" y="3648075"/>
            <a:ext cx="1828800" cy="1162050"/>
          </a:xfrm>
          <a:prstGeom xmlns:a="http://schemas.openxmlformats.org/drawingml/2006/main" prst="roundRect">
            <a:avLst>
              <a:gd name="adj" fmla="val 9836"/>
            </a:avLst>
          </a:prstGeom>
          <a:solidFill xmlns:a="http://schemas.openxmlformats.org/drawingml/2006/main">
            <a:srgbClr val="EAF3FA"/>
          </a:solidFill>
          <a:ln xmlns:a="http://schemas.openxmlformats.org/drawingml/2006/main" w="11430">
            <a:solidFill>
              <a:srgbClr val="76A9CF"/>
            </a:solidFill>
            <a:prstDash val="solid"/>
          </a:ln>
        </p:spPr>
      </p:sp>
      <p:sp>
        <p:nvSpPr>
          <p:cNvPr id="67" name="">
            <a:extLst xmlns:a="http://schemas.openxmlformats.org/drawingml/2006/main">
              <a:ext uri="{FF2B5EF4-FFF2-40B4-BE49-F238E27FC236}">
                <a16:creationId xmlns:a16="http://schemas.microsoft.com/office/drawing/2014/main" id="{1EC84365-EF41-42F3-BF3D-9D6A5E2675F1}"/>
              </a:ext>
            </a:extLst>
          </p:cNvPr>
          <p:cNvSpPr>
            <a:spLocks xmlns:a="http://schemas.openxmlformats.org/drawingml/2006/main" noGrp="1"/>
          </p:cNvSpPr>
          <p:nvPr/>
        </p:nvSpPr>
        <p:spPr>
          <a:xfrm xmlns:a="http://schemas.openxmlformats.org/drawingml/2006/main">
            <a:off x="3114675" y="3752850"/>
            <a:ext cx="1504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173C66"/>
                </a:solidFill>
                <a:latin typeface="Arial"/>
                <a:ea typeface="Arial"/>
                <a:cs typeface="Arial"/>
              </a:defRPr>
            </a:pPr>
            <a:r>
              <a:rPr sz="1350" b="1">
                <a:solidFill>
                  <a:srgbClr val="173C66"/>
                </a:solidFill>
                <a:latin typeface="Arial"/>
                <a:ea typeface="Arial"/>
                <a:cs typeface="Arial"/>
              </a:rPr>
              <a:t>Next.js PWA</a:t>
            </a:r>
          </a:p>
        </p:txBody>
      </p:sp>
      <p:sp>
        <p:nvSpPr>
          <p:cNvPr id="68" name="">
            <a:extLst xmlns:a="http://schemas.openxmlformats.org/drawingml/2006/main">
              <a:ext uri="{FF2B5EF4-FFF2-40B4-BE49-F238E27FC236}">
                <a16:creationId xmlns:a16="http://schemas.microsoft.com/office/drawing/2014/main" id="{36905FAD-8EAE-40A3-9A43-3287ADD14C9D}"/>
              </a:ext>
            </a:extLst>
          </p:cNvPr>
          <p:cNvSpPr>
            <a:spLocks xmlns:a="http://schemas.openxmlformats.org/drawingml/2006/main" noGrp="1"/>
          </p:cNvSpPr>
          <p:nvPr/>
        </p:nvSpPr>
        <p:spPr>
          <a:xfrm xmlns:a="http://schemas.openxmlformats.org/drawingml/2006/main">
            <a:off x="3114675" y="4057650"/>
            <a:ext cx="1504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3000"/>
              </a:lnSpc>
              <a:buNone/>
              <a:defRPr sz="907" b="0">
                <a:solidFill>
                  <a:srgbClr val="4E6278"/>
                </a:solidFill>
                <a:latin typeface="Arial"/>
                <a:ea typeface="Arial"/>
                <a:cs typeface="Arial"/>
              </a:defRPr>
            </a:pPr>
            <a:r>
              <a:rPr sz="907" b="0">
                <a:solidFill>
                  <a:srgbClr val="4E6278"/>
                </a:solidFill>
                <a:latin typeface="Arial"/>
                <a:ea typeface="Arial"/>
                <a:cs typeface="Arial"/>
              </a:rPr>
              <a:t>Farmer, center and admin portals</a:t>
            </a:r>
          </a:p>
          <a:p xmlns:a="http://schemas.openxmlformats.org/drawingml/2006/main">
            <a:pPr algn="ctr">
              <a:lnSpc>
                <a:spcPct val="93000"/>
              </a:lnSpc>
              <a:buNone/>
              <a:defRPr sz="907" b="0">
                <a:solidFill>
                  <a:srgbClr val="4E6278"/>
                </a:solidFill>
                <a:latin typeface="Arial"/>
                <a:ea typeface="Arial"/>
                <a:cs typeface="Arial"/>
              </a:defRPr>
            </a:pPr>
            <a:r>
              <a:rPr sz="907" b="0">
                <a:solidFill>
                  <a:srgbClr val="4E6278"/>
                </a:solidFill>
                <a:latin typeface="Arial"/>
                <a:ea typeface="Arial"/>
                <a:cs typeface="Arial"/>
              </a:rPr>
              <a:t>Offline application shell</a:t>
            </a:r>
          </a:p>
          <a:p xmlns:a="http://schemas.openxmlformats.org/drawingml/2006/main">
            <a:pPr algn="ctr">
              <a:lnSpc>
                <a:spcPct val="93000"/>
              </a:lnSpc>
              <a:buNone/>
              <a:defRPr sz="907" b="0">
                <a:solidFill>
                  <a:srgbClr val="4E6278"/>
                </a:solidFill>
                <a:latin typeface="Arial"/>
                <a:ea typeface="Arial"/>
                <a:cs typeface="Arial"/>
              </a:defRPr>
            </a:pPr>
            <a:r>
              <a:rPr sz="907" b="0">
                <a:solidFill>
                  <a:srgbClr val="4E6278"/>
                </a:solidFill>
                <a:latin typeface="Arial"/>
                <a:ea typeface="Arial"/>
                <a:cs typeface="Arial"/>
              </a:rPr>
              <a:t>Public phone/token tracker</a:t>
            </a:r>
          </a:p>
        </p:txBody>
      </p:sp>
      <p:sp>
        <p:nvSpPr>
          <p:cNvPr id="69" name="">
            <a:extLst xmlns:a="http://schemas.openxmlformats.org/drawingml/2006/main">
              <a:ext uri="{FF2B5EF4-FFF2-40B4-BE49-F238E27FC236}">
                <a16:creationId xmlns:a16="http://schemas.microsoft.com/office/drawing/2014/main" id="{D5FF6214-BDF2-49CA-B5DA-CF2368C036B6}"/>
              </a:ext>
            </a:extLst>
          </p:cNvPr>
          <p:cNvSpPr>
            <a:spLocks xmlns:a="http://schemas.openxmlformats.org/drawingml/2006/main" noGrp="1"/>
          </p:cNvSpPr>
          <p:nvPr/>
        </p:nvSpPr>
        <p:spPr>
          <a:xfrm xmlns:a="http://schemas.openxmlformats.org/drawingml/2006/main">
            <a:off x="4905375" y="4076700"/>
            <a:ext cx="342900" cy="247650"/>
          </a:xfrm>
          <a:prstGeom xmlns:a="http://schemas.openxmlformats.org/drawingml/2006/main" prst="chevron">
            <a:avLst/>
          </a:prstGeom>
          <a:solidFill xmlns:a="http://schemas.openxmlformats.org/drawingml/2006/main">
            <a:srgbClr val="2467A1"/>
          </a:solidFill>
          <a:ln xmlns:a="http://schemas.openxmlformats.org/drawingml/2006/main" w="0">
            <a:solidFill>
              <a:srgbClr val="2467A1"/>
            </a:solidFill>
          </a:ln>
        </p:spPr>
      </p:sp>
      <p:sp>
        <p:nvSpPr>
          <p:cNvPr id="70" name="">
            <a:extLst xmlns:a="http://schemas.openxmlformats.org/drawingml/2006/main">
              <a:ext uri="{FF2B5EF4-FFF2-40B4-BE49-F238E27FC236}">
                <a16:creationId xmlns:a16="http://schemas.microsoft.com/office/drawing/2014/main" id="{ECCAA87B-69C1-46DE-93DA-9B339E5D2137}"/>
              </a:ext>
            </a:extLst>
          </p:cNvPr>
          <p:cNvSpPr>
            <a:spLocks xmlns:a="http://schemas.openxmlformats.org/drawingml/2006/main" noGrp="1"/>
          </p:cNvSpPr>
          <p:nvPr/>
        </p:nvSpPr>
        <p:spPr>
          <a:xfrm xmlns:a="http://schemas.openxmlformats.org/drawingml/2006/main">
            <a:off x="4752975" y="4371975"/>
            <a:ext cx="647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537"/>
          </a:bodyPr>
          <a:lstStyle xmlns:a="http://schemas.openxmlformats.org/drawingml/2006/main"/>
          <a:p xmlns:a="http://schemas.openxmlformats.org/drawingml/2006/main">
            <a:pPr algn="ctr">
              <a:lnSpc>
                <a:spcPct val="100000"/>
              </a:lnSpc>
              <a:buNone/>
              <a:defRPr sz="735" b="1">
                <a:solidFill>
                  <a:srgbClr val="2467A1"/>
                </a:solidFill>
                <a:latin typeface="Arial"/>
                <a:ea typeface="Arial"/>
                <a:cs typeface="Arial"/>
              </a:defRPr>
            </a:pPr>
            <a:r>
              <a:rPr sz="735" b="1">
                <a:solidFill>
                  <a:srgbClr val="2467A1"/>
                </a:solidFill>
                <a:latin typeface="Arial"/>
                <a:ea typeface="Arial"/>
                <a:cs typeface="Arial"/>
              </a:rPr>
              <a:t>REST + realtime</a:t>
            </a:r>
          </a:p>
        </p:txBody>
      </p:sp>
      <p:sp>
        <p:nvSpPr>
          <p:cNvPr id="71" name="">
            <a:extLst xmlns:a="http://schemas.openxmlformats.org/drawingml/2006/main">
              <a:ext uri="{FF2B5EF4-FFF2-40B4-BE49-F238E27FC236}">
                <a16:creationId xmlns:a16="http://schemas.microsoft.com/office/drawing/2014/main" id="{38EADE2A-6054-4B9D-8146-6CC4BD9E8684}"/>
              </a:ext>
            </a:extLst>
          </p:cNvPr>
          <p:cNvSpPr>
            <a:spLocks xmlns:a="http://schemas.openxmlformats.org/drawingml/2006/main" noGrp="1"/>
          </p:cNvSpPr>
          <p:nvPr/>
        </p:nvSpPr>
        <p:spPr>
          <a:xfrm xmlns:a="http://schemas.openxmlformats.org/drawingml/2006/main">
            <a:off x="5362575" y="3533775"/>
            <a:ext cx="3562350" cy="14097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1430">
            <a:solidFill>
              <a:srgbClr val="6EA5CB"/>
            </a:solidFill>
            <a:prstDash val="solid"/>
          </a:ln>
        </p:spPr>
      </p:sp>
      <p:sp>
        <p:nvSpPr>
          <p:cNvPr id="72" name="">
            <a:extLst xmlns:a="http://schemas.openxmlformats.org/drawingml/2006/main">
              <a:ext uri="{FF2B5EF4-FFF2-40B4-BE49-F238E27FC236}">
                <a16:creationId xmlns:a16="http://schemas.microsoft.com/office/drawing/2014/main" id="{6BBE4773-AFE4-45EE-8C25-D5353A8DBB87}"/>
              </a:ext>
            </a:extLst>
          </p:cNvPr>
          <p:cNvSpPr>
            <a:spLocks xmlns:a="http://schemas.openxmlformats.org/drawingml/2006/main" noGrp="1"/>
          </p:cNvSpPr>
          <p:nvPr/>
        </p:nvSpPr>
        <p:spPr>
          <a:xfrm xmlns:a="http://schemas.openxmlformats.org/drawingml/2006/main">
            <a:off x="5553075" y="3638550"/>
            <a:ext cx="3181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173C66"/>
                </a:solidFill>
                <a:latin typeface="Arial"/>
                <a:ea typeface="Arial"/>
                <a:cs typeface="Arial"/>
              </a:defRPr>
            </a:pPr>
            <a:r>
              <a:rPr sz="1425" b="1">
                <a:solidFill>
                  <a:srgbClr val="173C66"/>
                </a:solidFill>
                <a:latin typeface="Arial"/>
                <a:ea typeface="Arial"/>
                <a:cs typeface="Arial"/>
              </a:rPr>
              <a:t>NestJS platform core</a:t>
            </a:r>
          </a:p>
        </p:txBody>
      </p:sp>
      <p:sp>
        <p:nvSpPr>
          <p:cNvPr id="73" name="">
            <a:extLst xmlns:a="http://schemas.openxmlformats.org/drawingml/2006/main">
              <a:ext uri="{FF2B5EF4-FFF2-40B4-BE49-F238E27FC236}">
                <a16:creationId xmlns:a16="http://schemas.microsoft.com/office/drawing/2014/main" id="{B18853BF-0B92-4DE0-8BCE-A6E8C65BB89C}"/>
              </a:ext>
            </a:extLst>
          </p:cNvPr>
          <p:cNvSpPr>
            <a:spLocks xmlns:a="http://schemas.openxmlformats.org/drawingml/2006/main" noGrp="1"/>
          </p:cNvSpPr>
          <p:nvPr/>
        </p:nvSpPr>
        <p:spPr>
          <a:xfrm xmlns:a="http://schemas.openxmlformats.org/drawingml/2006/main">
            <a:off x="5524500" y="4057650"/>
            <a:ext cx="0" cy="266700"/>
          </a:xfrm>
          <a:prstGeom xmlns:a="http://schemas.openxmlformats.org/drawingml/2006/main" prst="line">
            <a:avLst/>
          </a:prstGeom>
          <a:noFill xmlns:a="http://schemas.openxmlformats.org/drawingml/2006/main"/>
          <a:ln xmlns:a="http://schemas.openxmlformats.org/drawingml/2006/main" w="28575">
            <a:solidFill>
              <a:srgbClr val="267A42"/>
            </a:solidFill>
            <a:prstDash val="solid"/>
          </a:ln>
        </p:spPr>
      </p:sp>
      <p:sp>
        <p:nvSpPr>
          <p:cNvPr id="74" name="">
            <a:extLst xmlns:a="http://schemas.openxmlformats.org/drawingml/2006/main">
              <a:ext uri="{FF2B5EF4-FFF2-40B4-BE49-F238E27FC236}">
                <a16:creationId xmlns:a16="http://schemas.microsoft.com/office/drawing/2014/main" id="{E9276261-E289-4103-BE91-821A0A7020C5}"/>
              </a:ext>
            </a:extLst>
          </p:cNvPr>
          <p:cNvSpPr>
            <a:spLocks xmlns:a="http://schemas.openxmlformats.org/drawingml/2006/main" noGrp="1"/>
          </p:cNvSpPr>
          <p:nvPr/>
        </p:nvSpPr>
        <p:spPr>
          <a:xfrm xmlns:a="http://schemas.openxmlformats.org/drawingml/2006/main">
            <a:off x="5619750" y="4010025"/>
            <a:ext cx="1476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45" b="1">
                <a:solidFill>
                  <a:srgbClr val="172433"/>
                </a:solidFill>
                <a:latin typeface="Arial"/>
                <a:ea typeface="Arial"/>
                <a:cs typeface="Arial"/>
              </a:defRPr>
            </a:pPr>
            <a:r>
              <a:rPr sz="945" b="1">
                <a:solidFill>
                  <a:srgbClr val="172433"/>
                </a:solidFill>
                <a:latin typeface="Arial"/>
                <a:ea typeface="Arial"/>
                <a:cs typeface="Arial"/>
              </a:rPr>
              <a:t>Identity</a:t>
            </a:r>
          </a:p>
        </p:txBody>
      </p:sp>
      <p:sp>
        <p:nvSpPr>
          <p:cNvPr id="75" name="">
            <a:extLst xmlns:a="http://schemas.openxmlformats.org/drawingml/2006/main">
              <a:ext uri="{FF2B5EF4-FFF2-40B4-BE49-F238E27FC236}">
                <a16:creationId xmlns:a16="http://schemas.microsoft.com/office/drawing/2014/main" id="{171ED8A3-E5FA-4DA1-ABF1-E778AD8B2DA2}"/>
              </a:ext>
            </a:extLst>
          </p:cNvPr>
          <p:cNvSpPr>
            <a:spLocks xmlns:a="http://schemas.openxmlformats.org/drawingml/2006/main" noGrp="1"/>
          </p:cNvSpPr>
          <p:nvPr/>
        </p:nvSpPr>
        <p:spPr>
          <a:xfrm xmlns:a="http://schemas.openxmlformats.org/drawingml/2006/main">
            <a:off x="5619750" y="4191000"/>
            <a:ext cx="1476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80" b="0">
                <a:solidFill>
                  <a:srgbClr val="4E6278"/>
                </a:solidFill>
                <a:latin typeface="Arial"/>
                <a:ea typeface="Arial"/>
                <a:cs typeface="Arial"/>
              </a:defRPr>
            </a:pPr>
            <a:r>
              <a:rPr sz="780" b="0">
                <a:solidFill>
                  <a:srgbClr val="4E6278"/>
                </a:solidFill>
                <a:latin typeface="Arial"/>
                <a:ea typeface="Arial"/>
                <a:cs typeface="Arial"/>
              </a:rPr>
              <a:t>RBAC, tokens, privacy</a:t>
            </a:r>
          </a:p>
        </p:txBody>
      </p:sp>
      <p:sp>
        <p:nvSpPr>
          <p:cNvPr id="76" name="">
            <a:extLst xmlns:a="http://schemas.openxmlformats.org/drawingml/2006/main">
              <a:ext uri="{FF2B5EF4-FFF2-40B4-BE49-F238E27FC236}">
                <a16:creationId xmlns:a16="http://schemas.microsoft.com/office/drawing/2014/main" id="{DB55230C-D54C-4B69-A2E9-FC1EC4E42D30}"/>
              </a:ext>
            </a:extLst>
          </p:cNvPr>
          <p:cNvSpPr>
            <a:spLocks xmlns:a="http://schemas.openxmlformats.org/drawingml/2006/main" noGrp="1"/>
          </p:cNvSpPr>
          <p:nvPr/>
        </p:nvSpPr>
        <p:spPr>
          <a:xfrm xmlns:a="http://schemas.openxmlformats.org/drawingml/2006/main">
            <a:off x="7200900" y="4057650"/>
            <a:ext cx="0" cy="266700"/>
          </a:xfrm>
          <a:prstGeom xmlns:a="http://schemas.openxmlformats.org/drawingml/2006/main" prst="line">
            <a:avLst/>
          </a:prstGeom>
          <a:noFill xmlns:a="http://schemas.openxmlformats.org/drawingml/2006/main"/>
          <a:ln xmlns:a="http://schemas.openxmlformats.org/drawingml/2006/main" w="28575">
            <a:solidFill>
              <a:srgbClr val="2467A1"/>
            </a:solidFill>
            <a:prstDash val="solid"/>
          </a:ln>
        </p:spPr>
      </p:sp>
      <p:sp>
        <p:nvSpPr>
          <p:cNvPr id="77" name="">
            <a:extLst xmlns:a="http://schemas.openxmlformats.org/drawingml/2006/main">
              <a:ext uri="{FF2B5EF4-FFF2-40B4-BE49-F238E27FC236}">
                <a16:creationId xmlns:a16="http://schemas.microsoft.com/office/drawing/2014/main" id="{C468D70E-A1D3-4923-9C4F-42146D3761DF}"/>
              </a:ext>
            </a:extLst>
          </p:cNvPr>
          <p:cNvSpPr>
            <a:spLocks xmlns:a="http://schemas.openxmlformats.org/drawingml/2006/main" noGrp="1"/>
          </p:cNvSpPr>
          <p:nvPr/>
        </p:nvSpPr>
        <p:spPr>
          <a:xfrm xmlns:a="http://schemas.openxmlformats.org/drawingml/2006/main">
            <a:off x="7296150" y="4010025"/>
            <a:ext cx="1476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45" b="1">
                <a:solidFill>
                  <a:srgbClr val="172433"/>
                </a:solidFill>
                <a:latin typeface="Arial"/>
                <a:ea typeface="Arial"/>
                <a:cs typeface="Arial"/>
              </a:defRPr>
            </a:pPr>
            <a:r>
              <a:rPr sz="945" b="1">
                <a:solidFill>
                  <a:srgbClr val="172433"/>
                </a:solidFill>
                <a:latin typeface="Arial"/>
                <a:ea typeface="Arial"/>
                <a:cs typeface="Arial"/>
              </a:rPr>
              <a:t>Booking + queue</a:t>
            </a:r>
          </a:p>
        </p:txBody>
      </p:sp>
      <p:sp>
        <p:nvSpPr>
          <p:cNvPr id="78" name="">
            <a:extLst xmlns:a="http://schemas.openxmlformats.org/drawingml/2006/main">
              <a:ext uri="{FF2B5EF4-FFF2-40B4-BE49-F238E27FC236}">
                <a16:creationId xmlns:a16="http://schemas.microsoft.com/office/drawing/2014/main" id="{DA0B93AE-77FF-4D1A-AF93-45F3E2C79523}"/>
              </a:ext>
            </a:extLst>
          </p:cNvPr>
          <p:cNvSpPr>
            <a:spLocks xmlns:a="http://schemas.openxmlformats.org/drawingml/2006/main" noGrp="1"/>
          </p:cNvSpPr>
          <p:nvPr/>
        </p:nvSpPr>
        <p:spPr>
          <a:xfrm xmlns:a="http://schemas.openxmlformats.org/drawingml/2006/main">
            <a:off x="7296150" y="4191000"/>
            <a:ext cx="1476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80" b="0">
                <a:solidFill>
                  <a:srgbClr val="4E6278"/>
                </a:solidFill>
                <a:latin typeface="Arial"/>
                <a:ea typeface="Arial"/>
                <a:cs typeface="Arial"/>
              </a:defRPr>
            </a:pPr>
            <a:r>
              <a:rPr sz="780" b="0">
                <a:solidFill>
                  <a:srgbClr val="4E6278"/>
                </a:solidFill>
                <a:latin typeface="Arial"/>
                <a:ea typeface="Arial"/>
                <a:cs typeface="Arial"/>
              </a:rPr>
              <a:t>atomic slots, live ETA</a:t>
            </a:r>
          </a:p>
        </p:txBody>
      </p:sp>
      <p:sp>
        <p:nvSpPr>
          <p:cNvPr id="79" name="">
            <a:extLst xmlns:a="http://schemas.openxmlformats.org/drawingml/2006/main">
              <a:ext uri="{FF2B5EF4-FFF2-40B4-BE49-F238E27FC236}">
                <a16:creationId xmlns:a16="http://schemas.microsoft.com/office/drawing/2014/main" id="{191A9C92-BBCC-46FC-9CDD-E1C64A6A899C}"/>
              </a:ext>
            </a:extLst>
          </p:cNvPr>
          <p:cNvSpPr>
            <a:spLocks xmlns:a="http://schemas.openxmlformats.org/drawingml/2006/main" noGrp="1"/>
          </p:cNvSpPr>
          <p:nvPr/>
        </p:nvSpPr>
        <p:spPr>
          <a:xfrm xmlns:a="http://schemas.openxmlformats.org/drawingml/2006/main">
            <a:off x="5524500" y="4467225"/>
            <a:ext cx="0" cy="266700"/>
          </a:xfrm>
          <a:prstGeom xmlns:a="http://schemas.openxmlformats.org/drawingml/2006/main" prst="line">
            <a:avLst/>
          </a:prstGeom>
          <a:noFill xmlns:a="http://schemas.openxmlformats.org/drawingml/2006/main"/>
          <a:ln xmlns:a="http://schemas.openxmlformats.org/drawingml/2006/main" w="28575">
            <a:solidFill>
              <a:srgbClr val="E27600"/>
            </a:solidFill>
            <a:prstDash val="solid"/>
          </a:ln>
        </p:spPr>
      </p:sp>
      <p:sp>
        <p:nvSpPr>
          <p:cNvPr id="80" name="">
            <a:extLst xmlns:a="http://schemas.openxmlformats.org/drawingml/2006/main">
              <a:ext uri="{FF2B5EF4-FFF2-40B4-BE49-F238E27FC236}">
                <a16:creationId xmlns:a16="http://schemas.microsoft.com/office/drawing/2014/main" id="{86D7875D-E514-4104-A308-CD3891470EE4}"/>
              </a:ext>
            </a:extLst>
          </p:cNvPr>
          <p:cNvSpPr>
            <a:spLocks xmlns:a="http://schemas.openxmlformats.org/drawingml/2006/main" noGrp="1"/>
          </p:cNvSpPr>
          <p:nvPr/>
        </p:nvSpPr>
        <p:spPr>
          <a:xfrm xmlns:a="http://schemas.openxmlformats.org/drawingml/2006/main">
            <a:off x="5619750" y="4419600"/>
            <a:ext cx="1476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45" b="1">
                <a:solidFill>
                  <a:srgbClr val="172433"/>
                </a:solidFill>
                <a:latin typeface="Arial"/>
                <a:ea typeface="Arial"/>
                <a:cs typeface="Arial"/>
              </a:defRPr>
            </a:pPr>
            <a:r>
              <a:rPr sz="945" b="1">
                <a:solidFill>
                  <a:srgbClr val="172433"/>
                </a:solidFill>
                <a:latin typeface="Arial"/>
                <a:ea typeface="Arial"/>
                <a:cs typeface="Arial"/>
              </a:rPr>
              <a:t>Procurement</a:t>
            </a:r>
          </a:p>
        </p:txBody>
      </p:sp>
      <p:sp>
        <p:nvSpPr>
          <p:cNvPr id="81" name="">
            <a:extLst xmlns:a="http://schemas.openxmlformats.org/drawingml/2006/main">
              <a:ext uri="{FF2B5EF4-FFF2-40B4-BE49-F238E27FC236}">
                <a16:creationId xmlns:a16="http://schemas.microsoft.com/office/drawing/2014/main" id="{486D7307-546C-44EB-B0AF-B34D9CF60E95}"/>
              </a:ext>
            </a:extLst>
          </p:cNvPr>
          <p:cNvSpPr>
            <a:spLocks xmlns:a="http://schemas.openxmlformats.org/drawingml/2006/main" noGrp="1"/>
          </p:cNvSpPr>
          <p:nvPr/>
        </p:nvSpPr>
        <p:spPr>
          <a:xfrm xmlns:a="http://schemas.openxmlformats.org/drawingml/2006/main">
            <a:off x="5619750" y="4600575"/>
            <a:ext cx="1476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80" b="0">
                <a:solidFill>
                  <a:srgbClr val="4E6278"/>
                </a:solidFill>
                <a:latin typeface="Arial"/>
                <a:ea typeface="Arial"/>
                <a:cs typeface="Arial"/>
              </a:defRPr>
            </a:pPr>
            <a:r>
              <a:rPr sz="780" b="0">
                <a:solidFill>
                  <a:srgbClr val="4E6278"/>
                </a:solidFill>
                <a:latin typeface="Arial"/>
                <a:ea typeface="Arial"/>
                <a:cs typeface="Arial"/>
              </a:rPr>
              <a:t>gate, weigh, QC, decision</a:t>
            </a:r>
          </a:p>
        </p:txBody>
      </p:sp>
      <p:sp>
        <p:nvSpPr>
          <p:cNvPr id="82" name="">
            <a:extLst xmlns:a="http://schemas.openxmlformats.org/drawingml/2006/main">
              <a:ext uri="{FF2B5EF4-FFF2-40B4-BE49-F238E27FC236}">
                <a16:creationId xmlns:a16="http://schemas.microsoft.com/office/drawing/2014/main" id="{96208B97-8B08-4BDA-A847-D4E7F04C40B1}"/>
              </a:ext>
            </a:extLst>
          </p:cNvPr>
          <p:cNvSpPr>
            <a:spLocks xmlns:a="http://schemas.openxmlformats.org/drawingml/2006/main" noGrp="1"/>
          </p:cNvSpPr>
          <p:nvPr/>
        </p:nvSpPr>
        <p:spPr>
          <a:xfrm xmlns:a="http://schemas.openxmlformats.org/drawingml/2006/main">
            <a:off x="7200900" y="4467225"/>
            <a:ext cx="0" cy="266700"/>
          </a:xfrm>
          <a:prstGeom xmlns:a="http://schemas.openxmlformats.org/drawingml/2006/main" prst="line">
            <a:avLst/>
          </a:prstGeom>
          <a:noFill xmlns:a="http://schemas.openxmlformats.org/drawingml/2006/main"/>
          <a:ln xmlns:a="http://schemas.openxmlformats.org/drawingml/2006/main" w="28575">
            <a:solidFill>
              <a:srgbClr val="6247A5"/>
            </a:solidFill>
            <a:prstDash val="solid"/>
          </a:ln>
        </p:spPr>
      </p:sp>
      <p:sp>
        <p:nvSpPr>
          <p:cNvPr id="83" name="">
            <a:extLst xmlns:a="http://schemas.openxmlformats.org/drawingml/2006/main">
              <a:ext uri="{FF2B5EF4-FFF2-40B4-BE49-F238E27FC236}">
                <a16:creationId xmlns:a16="http://schemas.microsoft.com/office/drawing/2014/main" id="{9124787E-3A6D-4E3D-8EF9-CC8131914840}"/>
              </a:ext>
            </a:extLst>
          </p:cNvPr>
          <p:cNvSpPr>
            <a:spLocks xmlns:a="http://schemas.openxmlformats.org/drawingml/2006/main" noGrp="1"/>
          </p:cNvSpPr>
          <p:nvPr/>
        </p:nvSpPr>
        <p:spPr>
          <a:xfrm xmlns:a="http://schemas.openxmlformats.org/drawingml/2006/main">
            <a:off x="7296150" y="4419600"/>
            <a:ext cx="1476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45" b="1">
                <a:solidFill>
                  <a:srgbClr val="172433"/>
                </a:solidFill>
                <a:latin typeface="Arial"/>
                <a:ea typeface="Arial"/>
                <a:cs typeface="Arial"/>
              </a:defRPr>
            </a:pPr>
            <a:r>
              <a:rPr sz="945" b="1">
                <a:solidFill>
                  <a:srgbClr val="172433"/>
                </a:solidFill>
                <a:latin typeface="Arial"/>
                <a:ea typeface="Arial"/>
                <a:cs typeface="Arial"/>
              </a:rPr>
              <a:t>Payments + admin</a:t>
            </a:r>
          </a:p>
        </p:txBody>
      </p:sp>
      <p:sp>
        <p:nvSpPr>
          <p:cNvPr id="84" name="">
            <a:extLst xmlns:a="http://schemas.openxmlformats.org/drawingml/2006/main">
              <a:ext uri="{FF2B5EF4-FFF2-40B4-BE49-F238E27FC236}">
                <a16:creationId xmlns:a16="http://schemas.microsoft.com/office/drawing/2014/main" id="{ADF07B59-8C2A-4718-8235-7FA9251077E4}"/>
              </a:ext>
            </a:extLst>
          </p:cNvPr>
          <p:cNvSpPr>
            <a:spLocks xmlns:a="http://schemas.openxmlformats.org/drawingml/2006/main" noGrp="1"/>
          </p:cNvSpPr>
          <p:nvPr/>
        </p:nvSpPr>
        <p:spPr>
          <a:xfrm xmlns:a="http://schemas.openxmlformats.org/drawingml/2006/main">
            <a:off x="7296150" y="4600575"/>
            <a:ext cx="1476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80" b="0">
                <a:solidFill>
                  <a:srgbClr val="4E6278"/>
                </a:solidFill>
                <a:latin typeface="Arial"/>
                <a:ea typeface="Arial"/>
                <a:cs typeface="Arial"/>
              </a:defRPr>
            </a:pPr>
            <a:r>
              <a:rPr sz="780" b="0">
                <a:solidFill>
                  <a:srgbClr val="4E6278"/>
                </a:solidFill>
                <a:latin typeface="Arial"/>
                <a:ea typeface="Arial"/>
                <a:cs typeface="Arial"/>
              </a:rPr>
              <a:t>settlement, MSP, analytics</a:t>
            </a:r>
          </a:p>
        </p:txBody>
      </p:sp>
      <p:sp>
        <p:nvSpPr>
          <p:cNvPr id="85" name="">
            <a:extLst xmlns:a="http://schemas.openxmlformats.org/drawingml/2006/main">
              <a:ext uri="{FF2B5EF4-FFF2-40B4-BE49-F238E27FC236}">
                <a16:creationId xmlns:a16="http://schemas.microsoft.com/office/drawing/2014/main" id="{7B04A853-0334-4C90-9C3F-8D169DB895E2}"/>
              </a:ext>
            </a:extLst>
          </p:cNvPr>
          <p:cNvSpPr>
            <a:spLocks xmlns:a="http://schemas.openxmlformats.org/drawingml/2006/main" noGrp="1"/>
          </p:cNvSpPr>
          <p:nvPr/>
        </p:nvSpPr>
        <p:spPr>
          <a:xfrm xmlns:a="http://schemas.openxmlformats.org/drawingml/2006/main">
            <a:off x="2867025" y="50482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788" b="1">
                <a:solidFill>
                  <a:srgbClr val="267A42"/>
                </a:solidFill>
                <a:latin typeface="Arial"/>
                <a:ea typeface="Arial"/>
                <a:cs typeface="Arial"/>
              </a:defRPr>
            </a:pPr>
            <a:r>
              <a:rPr sz="788" b="1">
                <a:solidFill>
                  <a:srgbClr val="267A42"/>
                </a:solidFill>
                <a:latin typeface="Arial"/>
                <a:ea typeface="Arial"/>
                <a:cs typeface="Arial"/>
              </a:rPr>
              <a:t>DATA AND EVENTS</a:t>
            </a:r>
          </a:p>
        </p:txBody>
      </p:sp>
      <p:sp>
        <p:nvSpPr>
          <p:cNvPr id="86" name="">
            <a:extLst xmlns:a="http://schemas.openxmlformats.org/drawingml/2006/main">
              <a:ext uri="{FF2B5EF4-FFF2-40B4-BE49-F238E27FC236}">
                <a16:creationId xmlns:a16="http://schemas.microsoft.com/office/drawing/2014/main" id="{7307EC50-B76F-4BD0-B06C-239430A83965}"/>
              </a:ext>
            </a:extLst>
          </p:cNvPr>
          <p:cNvSpPr>
            <a:spLocks xmlns:a="http://schemas.openxmlformats.org/drawingml/2006/main" noGrp="1"/>
          </p:cNvSpPr>
          <p:nvPr/>
        </p:nvSpPr>
        <p:spPr>
          <a:xfrm xmlns:a="http://schemas.openxmlformats.org/drawingml/2006/main">
            <a:off x="2857500" y="5257800"/>
            <a:ext cx="1895475" cy="619125"/>
          </a:xfrm>
          <a:prstGeom xmlns:a="http://schemas.openxmlformats.org/drawingml/2006/main" prst="roundRect">
            <a:avLst>
              <a:gd name="adj" fmla="val 12308"/>
            </a:avLst>
          </a:prstGeom>
          <a:solidFill xmlns:a="http://schemas.openxmlformats.org/drawingml/2006/main">
            <a:srgbClr val="EAF3FA"/>
          </a:solidFill>
          <a:ln xmlns:a="http://schemas.openxmlformats.org/drawingml/2006/main" w="11430">
            <a:solidFill>
              <a:srgbClr val="82B5D5"/>
            </a:solidFill>
            <a:prstDash val="solid"/>
          </a:ln>
        </p:spPr>
      </p:sp>
      <p:sp>
        <p:nvSpPr>
          <p:cNvPr id="87" name="">
            <a:extLst xmlns:a="http://schemas.openxmlformats.org/drawingml/2006/main">
              <a:ext uri="{FF2B5EF4-FFF2-40B4-BE49-F238E27FC236}">
                <a16:creationId xmlns:a16="http://schemas.microsoft.com/office/drawing/2014/main" id="{BA6F181B-3958-46DA-8517-F663C9635359}"/>
              </a:ext>
            </a:extLst>
          </p:cNvPr>
          <p:cNvSpPr>
            <a:spLocks xmlns:a="http://schemas.openxmlformats.org/drawingml/2006/main" noGrp="1"/>
          </p:cNvSpPr>
          <p:nvPr/>
        </p:nvSpPr>
        <p:spPr>
          <a:xfrm xmlns:a="http://schemas.openxmlformats.org/drawingml/2006/main">
            <a:off x="2971800" y="5314950"/>
            <a:ext cx="1666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90" b="1">
                <a:solidFill>
                  <a:srgbClr val="172433"/>
                </a:solidFill>
                <a:latin typeface="Arial"/>
                <a:ea typeface="Arial"/>
                <a:cs typeface="Arial"/>
              </a:defRPr>
            </a:pPr>
            <a:r>
              <a:rPr sz="990" b="1">
                <a:solidFill>
                  <a:srgbClr val="172433"/>
                </a:solidFill>
                <a:latin typeface="Arial"/>
                <a:ea typeface="Arial"/>
                <a:cs typeface="Arial"/>
              </a:rPr>
              <a:t>PostgreSQL + Prisma</a:t>
            </a:r>
          </a:p>
        </p:txBody>
      </p:sp>
      <p:sp>
        <p:nvSpPr>
          <p:cNvPr id="88" name="">
            <a:extLst xmlns:a="http://schemas.openxmlformats.org/drawingml/2006/main">
              <a:ext uri="{FF2B5EF4-FFF2-40B4-BE49-F238E27FC236}">
                <a16:creationId xmlns:a16="http://schemas.microsoft.com/office/drawing/2014/main" id="{4C101A21-FB30-4B74-BA4F-9BB482ED70D8}"/>
              </a:ext>
            </a:extLst>
          </p:cNvPr>
          <p:cNvSpPr>
            <a:spLocks xmlns:a="http://schemas.openxmlformats.org/drawingml/2006/main" noGrp="1"/>
          </p:cNvSpPr>
          <p:nvPr/>
        </p:nvSpPr>
        <p:spPr>
          <a:xfrm xmlns:a="http://schemas.openxmlformats.org/drawingml/2006/main">
            <a:off x="2971800" y="5543550"/>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95" b="0">
                <a:solidFill>
                  <a:srgbClr val="4E6278"/>
                </a:solidFill>
                <a:latin typeface="Arial"/>
                <a:ea typeface="Arial"/>
                <a:cs typeface="Arial"/>
              </a:defRPr>
            </a:pPr>
            <a:r>
              <a:rPr sz="795" b="0">
                <a:solidFill>
                  <a:srgbClr val="4E6278"/>
                </a:solidFill>
                <a:latin typeface="Arial"/>
                <a:ea typeface="Arial"/>
                <a:cs typeface="Arial"/>
              </a:rPr>
              <a:t>transactions and audit</a:t>
            </a:r>
          </a:p>
        </p:txBody>
      </p:sp>
      <p:sp>
        <p:nvSpPr>
          <p:cNvPr id="89" name="">
            <a:extLst xmlns:a="http://schemas.openxmlformats.org/drawingml/2006/main">
              <a:ext uri="{FF2B5EF4-FFF2-40B4-BE49-F238E27FC236}">
                <a16:creationId xmlns:a16="http://schemas.microsoft.com/office/drawing/2014/main" id="{C88B487B-1209-4F36-A9F7-83119AE76A12}"/>
              </a:ext>
            </a:extLst>
          </p:cNvPr>
          <p:cNvSpPr>
            <a:spLocks xmlns:a="http://schemas.openxmlformats.org/drawingml/2006/main" noGrp="1"/>
          </p:cNvSpPr>
          <p:nvPr/>
        </p:nvSpPr>
        <p:spPr>
          <a:xfrm xmlns:a="http://schemas.openxmlformats.org/drawingml/2006/main">
            <a:off x="4924425" y="5257800"/>
            <a:ext cx="1895475" cy="619125"/>
          </a:xfrm>
          <a:prstGeom xmlns:a="http://schemas.openxmlformats.org/drawingml/2006/main" prst="roundRect">
            <a:avLst>
              <a:gd name="adj" fmla="val 12308"/>
            </a:avLst>
          </a:prstGeom>
          <a:solidFill xmlns:a="http://schemas.openxmlformats.org/drawingml/2006/main">
            <a:srgbClr val="EDF7EE"/>
          </a:solidFill>
          <a:ln xmlns:a="http://schemas.openxmlformats.org/drawingml/2006/main" w="11430">
            <a:solidFill>
              <a:srgbClr val="90C29F"/>
            </a:solidFill>
            <a:prstDash val="solid"/>
          </a:ln>
        </p:spPr>
      </p:sp>
      <p:sp>
        <p:nvSpPr>
          <p:cNvPr id="90" name="">
            <a:extLst xmlns:a="http://schemas.openxmlformats.org/drawingml/2006/main">
              <a:ext uri="{FF2B5EF4-FFF2-40B4-BE49-F238E27FC236}">
                <a16:creationId xmlns:a16="http://schemas.microsoft.com/office/drawing/2014/main" id="{9A9203CA-4E31-48BF-B246-96E241D881CA}"/>
              </a:ext>
            </a:extLst>
          </p:cNvPr>
          <p:cNvSpPr>
            <a:spLocks xmlns:a="http://schemas.openxmlformats.org/drawingml/2006/main" noGrp="1"/>
          </p:cNvSpPr>
          <p:nvPr/>
        </p:nvSpPr>
        <p:spPr>
          <a:xfrm xmlns:a="http://schemas.openxmlformats.org/drawingml/2006/main">
            <a:off x="5038725" y="5314950"/>
            <a:ext cx="1666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90" b="1">
                <a:solidFill>
                  <a:srgbClr val="172433"/>
                </a:solidFill>
                <a:latin typeface="Arial"/>
                <a:ea typeface="Arial"/>
                <a:cs typeface="Arial"/>
              </a:defRPr>
            </a:pPr>
            <a:r>
              <a:rPr sz="990" b="1">
                <a:solidFill>
                  <a:srgbClr val="172433"/>
                </a:solidFill>
                <a:latin typeface="Arial"/>
                <a:ea typeface="Arial"/>
                <a:cs typeface="Arial"/>
              </a:rPr>
              <a:t>Redis</a:t>
            </a:r>
          </a:p>
        </p:txBody>
      </p:sp>
      <p:sp>
        <p:nvSpPr>
          <p:cNvPr id="91" name="">
            <a:extLst xmlns:a="http://schemas.openxmlformats.org/drawingml/2006/main">
              <a:ext uri="{FF2B5EF4-FFF2-40B4-BE49-F238E27FC236}">
                <a16:creationId xmlns:a16="http://schemas.microsoft.com/office/drawing/2014/main" id="{FA0E4CA2-83F4-4A1D-94A1-46618EA8E938}"/>
              </a:ext>
            </a:extLst>
          </p:cNvPr>
          <p:cNvSpPr>
            <a:spLocks xmlns:a="http://schemas.openxmlformats.org/drawingml/2006/main" noGrp="1"/>
          </p:cNvSpPr>
          <p:nvPr/>
        </p:nvSpPr>
        <p:spPr>
          <a:xfrm xmlns:a="http://schemas.openxmlformats.org/drawingml/2006/main">
            <a:off x="5038725" y="5543550"/>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95" b="0">
                <a:solidFill>
                  <a:srgbClr val="4E6278"/>
                </a:solidFill>
                <a:latin typeface="Arial"/>
                <a:ea typeface="Arial"/>
                <a:cs typeface="Arial"/>
              </a:defRPr>
            </a:pPr>
            <a:r>
              <a:rPr sz="795" b="0">
                <a:solidFill>
                  <a:srgbClr val="4E6278"/>
                </a:solidFill>
                <a:latin typeface="Arial"/>
                <a:ea typeface="Arial"/>
                <a:cs typeface="Arial"/>
              </a:rPr>
              <a:t>cache, rate limits, pub/sub</a:t>
            </a:r>
          </a:p>
        </p:txBody>
      </p:sp>
      <p:sp>
        <p:nvSpPr>
          <p:cNvPr id="92" name="">
            <a:extLst xmlns:a="http://schemas.openxmlformats.org/drawingml/2006/main">
              <a:ext uri="{FF2B5EF4-FFF2-40B4-BE49-F238E27FC236}">
                <a16:creationId xmlns:a16="http://schemas.microsoft.com/office/drawing/2014/main" id="{ECCDBD91-DEC7-41B4-B263-424F8C777CE7}"/>
              </a:ext>
            </a:extLst>
          </p:cNvPr>
          <p:cNvSpPr>
            <a:spLocks xmlns:a="http://schemas.openxmlformats.org/drawingml/2006/main" noGrp="1"/>
          </p:cNvSpPr>
          <p:nvPr/>
        </p:nvSpPr>
        <p:spPr>
          <a:xfrm xmlns:a="http://schemas.openxmlformats.org/drawingml/2006/main">
            <a:off x="6991350" y="5257800"/>
            <a:ext cx="1895475" cy="619125"/>
          </a:xfrm>
          <a:prstGeom xmlns:a="http://schemas.openxmlformats.org/drawingml/2006/main" prst="roundRect">
            <a:avLst>
              <a:gd name="adj" fmla="val 12308"/>
            </a:avLst>
          </a:prstGeom>
          <a:solidFill xmlns:a="http://schemas.openxmlformats.org/drawingml/2006/main">
            <a:srgbClr val="F1EDFA"/>
          </a:solidFill>
          <a:ln xmlns:a="http://schemas.openxmlformats.org/drawingml/2006/main" w="11430">
            <a:solidFill>
              <a:srgbClr val="B29DD6"/>
            </a:solidFill>
            <a:prstDash val="solid"/>
          </a:ln>
        </p:spPr>
      </p:sp>
      <p:sp>
        <p:nvSpPr>
          <p:cNvPr id="93" name="">
            <a:extLst xmlns:a="http://schemas.openxmlformats.org/drawingml/2006/main">
              <a:ext uri="{FF2B5EF4-FFF2-40B4-BE49-F238E27FC236}">
                <a16:creationId xmlns:a16="http://schemas.microsoft.com/office/drawing/2014/main" id="{C91703C6-1DCC-42F4-90D6-A256AF5306B0}"/>
              </a:ext>
            </a:extLst>
          </p:cNvPr>
          <p:cNvSpPr>
            <a:spLocks xmlns:a="http://schemas.openxmlformats.org/drawingml/2006/main" noGrp="1"/>
          </p:cNvSpPr>
          <p:nvPr/>
        </p:nvSpPr>
        <p:spPr>
          <a:xfrm xmlns:a="http://schemas.openxmlformats.org/drawingml/2006/main">
            <a:off x="7105650" y="5314950"/>
            <a:ext cx="1666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90" b="1">
                <a:solidFill>
                  <a:srgbClr val="172433"/>
                </a:solidFill>
                <a:latin typeface="Arial"/>
                <a:ea typeface="Arial"/>
                <a:cs typeface="Arial"/>
              </a:defRPr>
            </a:pPr>
            <a:r>
              <a:rPr sz="990" b="1">
                <a:solidFill>
                  <a:srgbClr val="172433"/>
                </a:solidFill>
                <a:latin typeface="Arial"/>
                <a:ea typeface="Arial"/>
                <a:cs typeface="Arial"/>
              </a:rPr>
              <a:t>BullMQ + outbox</a:t>
            </a:r>
          </a:p>
        </p:txBody>
      </p:sp>
      <p:sp>
        <p:nvSpPr>
          <p:cNvPr id="94" name="">
            <a:extLst xmlns:a="http://schemas.openxmlformats.org/drawingml/2006/main">
              <a:ext uri="{FF2B5EF4-FFF2-40B4-BE49-F238E27FC236}">
                <a16:creationId xmlns:a16="http://schemas.microsoft.com/office/drawing/2014/main" id="{7577A183-F42A-4906-9521-8DE1A765FABB}"/>
              </a:ext>
            </a:extLst>
          </p:cNvPr>
          <p:cNvSpPr>
            <a:spLocks xmlns:a="http://schemas.openxmlformats.org/drawingml/2006/main" noGrp="1"/>
          </p:cNvSpPr>
          <p:nvPr/>
        </p:nvSpPr>
        <p:spPr>
          <a:xfrm xmlns:a="http://schemas.openxmlformats.org/drawingml/2006/main">
            <a:off x="7105650" y="5543550"/>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95" b="0">
                <a:solidFill>
                  <a:srgbClr val="4E6278"/>
                </a:solidFill>
                <a:latin typeface="Arial"/>
                <a:ea typeface="Arial"/>
                <a:cs typeface="Arial"/>
              </a:defRPr>
            </a:pPr>
            <a:r>
              <a:rPr sz="795" b="0">
                <a:solidFill>
                  <a:srgbClr val="4E6278"/>
                </a:solidFill>
                <a:latin typeface="Arial"/>
                <a:ea typeface="Arial"/>
                <a:cs typeface="Arial"/>
              </a:rPr>
              <a:t>retry and dead-letter queue</a:t>
            </a:r>
          </a:p>
        </p:txBody>
      </p:sp>
      <p:sp>
        <p:nvSpPr>
          <p:cNvPr id="95" name="">
            <a:extLst xmlns:a="http://schemas.openxmlformats.org/drawingml/2006/main">
              <a:ext uri="{FF2B5EF4-FFF2-40B4-BE49-F238E27FC236}">
                <a16:creationId xmlns:a16="http://schemas.microsoft.com/office/drawing/2014/main" id="{14A89BA5-FAC8-48CC-B923-81B0095DBFF0}"/>
              </a:ext>
            </a:extLst>
          </p:cNvPr>
          <p:cNvSpPr>
            <a:spLocks xmlns:a="http://schemas.openxmlformats.org/drawingml/2006/main" noGrp="1"/>
          </p:cNvSpPr>
          <p:nvPr/>
        </p:nvSpPr>
        <p:spPr>
          <a:xfrm xmlns:a="http://schemas.openxmlformats.org/drawingml/2006/main">
            <a:off x="2857500" y="5991225"/>
            <a:ext cx="6067425" cy="295275"/>
          </a:xfrm>
          <a:prstGeom xmlns:a="http://schemas.openxmlformats.org/drawingml/2006/main" prst="roundRect">
            <a:avLst>
              <a:gd name="adj" fmla="val 50000"/>
            </a:avLst>
          </a:prstGeom>
          <a:solidFill xmlns:a="http://schemas.openxmlformats.org/drawingml/2006/main">
            <a:srgbClr val="FFF3E3"/>
          </a:solidFill>
          <a:ln xmlns:a="http://schemas.openxmlformats.org/drawingml/2006/main" w="11430">
            <a:solidFill>
              <a:srgbClr val="E9AE62"/>
            </a:solidFill>
            <a:prstDash val="solid"/>
          </a:ln>
        </p:spPr>
      </p:sp>
      <p:sp>
        <p:nvSpPr>
          <p:cNvPr id="96" name="">
            <a:extLst xmlns:a="http://schemas.openxmlformats.org/drawingml/2006/main">
              <a:ext uri="{FF2B5EF4-FFF2-40B4-BE49-F238E27FC236}">
                <a16:creationId xmlns:a16="http://schemas.microsoft.com/office/drawing/2014/main" id="{D09237EC-8792-4351-B454-BB85C6F85B06}"/>
              </a:ext>
            </a:extLst>
          </p:cNvPr>
          <p:cNvSpPr>
            <a:spLocks xmlns:a="http://schemas.openxmlformats.org/drawingml/2006/main" noGrp="1"/>
          </p:cNvSpPr>
          <p:nvPr/>
        </p:nvSpPr>
        <p:spPr>
          <a:xfrm xmlns:a="http://schemas.openxmlformats.org/drawingml/2006/main">
            <a:off x="3000375" y="6038850"/>
            <a:ext cx="57816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10" b="1">
                <a:solidFill>
                  <a:srgbClr val="8A4D00"/>
                </a:solidFill>
                <a:latin typeface="Arial"/>
                <a:ea typeface="Arial"/>
                <a:cs typeface="Arial"/>
              </a:defRPr>
            </a:pPr>
            <a:r>
              <a:rPr sz="810" b="1">
                <a:solidFill>
                  <a:srgbClr val="8A4D00"/>
                </a:solidFill>
                <a:latin typeface="Arial"/>
                <a:ea typeface="Arial"/>
                <a:cs typeface="Arial"/>
              </a:rPr>
              <a:t>ADAPTER BOUNDARY   AgriStack / Aadhaar demo   State portals   PFMS mock   Translation fallback</a:t>
            </a:r>
          </a:p>
        </p:txBody>
      </p:sp>
      <p:sp>
        <p:nvSpPr>
          <p:cNvPr id="97" name="">
            <a:extLst xmlns:a="http://schemas.openxmlformats.org/drawingml/2006/main">
              <a:ext uri="{FF2B5EF4-FFF2-40B4-BE49-F238E27FC236}">
                <a16:creationId xmlns:a16="http://schemas.microsoft.com/office/drawing/2014/main" id="{0B5711BE-00AF-439D-A1EE-E6542B4A4211}"/>
              </a:ext>
            </a:extLst>
          </p:cNvPr>
          <p:cNvSpPr>
            <a:spLocks xmlns:a="http://schemas.openxmlformats.org/drawingml/2006/main" noGrp="1"/>
          </p:cNvSpPr>
          <p:nvPr/>
        </p:nvSpPr>
        <p:spPr>
          <a:xfrm xmlns:a="http://schemas.openxmlformats.org/drawingml/2006/main">
            <a:off x="9458325" y="1466850"/>
            <a:ext cx="2228850" cy="1428750"/>
          </a:xfrm>
          <a:prstGeom xmlns:a="http://schemas.openxmlformats.org/drawingml/2006/main" prst="roundRect">
            <a:avLst>
              <a:gd name="adj" fmla="val 5333"/>
            </a:avLst>
          </a:prstGeom>
          <a:solidFill xmlns:a="http://schemas.openxmlformats.org/drawingml/2006/main">
            <a:srgbClr val="EDF7EE"/>
          </a:solidFill>
          <a:ln xmlns:a="http://schemas.openxmlformats.org/drawingml/2006/main" w="11430">
            <a:solidFill>
              <a:srgbClr val="A6CFB0"/>
            </a:solidFill>
            <a:prstDash val="solid"/>
          </a:ln>
        </p:spPr>
      </p:sp>
      <p:sp>
        <p:nvSpPr>
          <p:cNvPr id="98" name="">
            <a:extLst xmlns:a="http://schemas.openxmlformats.org/drawingml/2006/main">
              <a:ext uri="{FF2B5EF4-FFF2-40B4-BE49-F238E27FC236}">
                <a16:creationId xmlns:a16="http://schemas.microsoft.com/office/drawing/2014/main" id="{4BEF78F9-68C8-4083-9045-3DC171318632}"/>
              </a:ext>
            </a:extLst>
          </p:cNvPr>
          <p:cNvSpPr>
            <a:spLocks xmlns:a="http://schemas.openxmlformats.org/drawingml/2006/main" noGrp="1"/>
          </p:cNvSpPr>
          <p:nvPr/>
        </p:nvSpPr>
        <p:spPr>
          <a:xfrm xmlns:a="http://schemas.openxmlformats.org/drawingml/2006/main">
            <a:off x="9601200" y="1590675"/>
            <a:ext cx="323850" cy="323850"/>
          </a:xfrm>
          <a:prstGeom xmlns:a="http://schemas.openxmlformats.org/drawingml/2006/main" prst="ellipse">
            <a:avLst/>
          </a:prstGeom>
          <a:solidFill xmlns:a="http://schemas.openxmlformats.org/drawingml/2006/main">
            <a:srgbClr val="267A42"/>
          </a:solidFill>
          <a:ln xmlns:a="http://schemas.openxmlformats.org/drawingml/2006/main" w="0">
            <a:solidFill>
              <a:srgbClr val="267A42"/>
            </a:solid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99" name="">
            <a:extLst xmlns:a="http://schemas.openxmlformats.org/drawingml/2006/main">
              <a:ext uri="{FF2B5EF4-FFF2-40B4-BE49-F238E27FC236}">
                <a16:creationId xmlns:a16="http://schemas.microsoft.com/office/drawing/2014/main" id="{A96C2E8D-CE78-4536-88CE-AB6AB37DFDE7}"/>
              </a:ext>
            </a:extLst>
          </p:cNvPr>
          <p:cNvSpPr>
            <a:spLocks xmlns:a="http://schemas.openxmlformats.org/drawingml/2006/main" noGrp="1"/>
          </p:cNvSpPr>
          <p:nvPr/>
        </p:nvSpPr>
        <p:spPr>
          <a:xfrm xmlns:a="http://schemas.openxmlformats.org/drawingml/2006/main">
            <a:off x="10010775" y="1581150"/>
            <a:ext cx="15525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267A42"/>
                </a:solidFill>
                <a:latin typeface="Arial"/>
                <a:ea typeface="Arial"/>
                <a:cs typeface="Arial"/>
              </a:defRPr>
            </a:pPr>
            <a:r>
              <a:rPr sz="975" b="1">
                <a:solidFill>
                  <a:srgbClr val="267A42"/>
                </a:solidFill>
                <a:latin typeface="Arial"/>
                <a:ea typeface="Arial"/>
                <a:cs typeface="Arial"/>
              </a:rPr>
              <a:t>FARMER ACCESS</a:t>
            </a:r>
          </a:p>
        </p:txBody>
      </p:sp>
      <p:sp>
        <p:nvSpPr>
          <p:cNvPr id="100" name="">
            <a:extLst xmlns:a="http://schemas.openxmlformats.org/drawingml/2006/main">
              <a:ext uri="{FF2B5EF4-FFF2-40B4-BE49-F238E27FC236}">
                <a16:creationId xmlns:a16="http://schemas.microsoft.com/office/drawing/2014/main" id="{7ADDDB04-3CED-4596-82C9-5454D202521F}"/>
              </a:ext>
            </a:extLst>
          </p:cNvPr>
          <p:cNvSpPr>
            <a:spLocks xmlns:a="http://schemas.openxmlformats.org/drawingml/2006/main" noGrp="1"/>
          </p:cNvSpPr>
          <p:nvPr/>
        </p:nvSpPr>
        <p:spPr>
          <a:xfrm xmlns:a="http://schemas.openxmlformats.org/drawingml/2006/main">
            <a:off x="9620250" y="1981200"/>
            <a:ext cx="1924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Login or assisted booking</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Choose center and slot</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Track by account, mobile or token</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View queue, lot and payment</a:t>
            </a:r>
          </a:p>
        </p:txBody>
      </p:sp>
      <p:sp>
        <p:nvSpPr>
          <p:cNvPr id="101" name="">
            <a:extLst xmlns:a="http://schemas.openxmlformats.org/drawingml/2006/main">
              <a:ext uri="{FF2B5EF4-FFF2-40B4-BE49-F238E27FC236}">
                <a16:creationId xmlns:a16="http://schemas.microsoft.com/office/drawing/2014/main" id="{D417408E-1F69-4662-ABF0-45D1CB2DC53E}"/>
              </a:ext>
            </a:extLst>
          </p:cNvPr>
          <p:cNvSpPr>
            <a:spLocks xmlns:a="http://schemas.openxmlformats.org/drawingml/2006/main" noGrp="1"/>
          </p:cNvSpPr>
          <p:nvPr/>
        </p:nvSpPr>
        <p:spPr>
          <a:xfrm xmlns:a="http://schemas.openxmlformats.org/drawingml/2006/main">
            <a:off x="9458325" y="3048000"/>
            <a:ext cx="2228850" cy="1428750"/>
          </a:xfrm>
          <a:prstGeom xmlns:a="http://schemas.openxmlformats.org/drawingml/2006/main" prst="roundRect">
            <a:avLst>
              <a:gd name="adj" fmla="val 5333"/>
            </a:avLst>
          </a:prstGeom>
          <a:solidFill xmlns:a="http://schemas.openxmlformats.org/drawingml/2006/main">
            <a:srgbClr val="FFF3E3"/>
          </a:solidFill>
          <a:ln xmlns:a="http://schemas.openxmlformats.org/drawingml/2006/main" w="11430">
            <a:solidFill>
              <a:srgbClr val="F0BD79"/>
            </a:solidFill>
            <a:prstDash val="solid"/>
          </a:ln>
        </p:spPr>
      </p:sp>
      <p:sp>
        <p:nvSpPr>
          <p:cNvPr id="102" name="">
            <a:extLst xmlns:a="http://schemas.openxmlformats.org/drawingml/2006/main">
              <a:ext uri="{FF2B5EF4-FFF2-40B4-BE49-F238E27FC236}">
                <a16:creationId xmlns:a16="http://schemas.microsoft.com/office/drawing/2014/main" id="{AABF52B5-45C5-44C1-BEA4-4932E007042C}"/>
              </a:ext>
            </a:extLst>
          </p:cNvPr>
          <p:cNvSpPr>
            <a:spLocks xmlns:a="http://schemas.openxmlformats.org/drawingml/2006/main" noGrp="1"/>
          </p:cNvSpPr>
          <p:nvPr/>
        </p:nvSpPr>
        <p:spPr>
          <a:xfrm xmlns:a="http://schemas.openxmlformats.org/drawingml/2006/main">
            <a:off x="9601200" y="3171825"/>
            <a:ext cx="323850" cy="323850"/>
          </a:xfrm>
          <a:prstGeom xmlns:a="http://schemas.openxmlformats.org/drawingml/2006/main" prst="ellipse">
            <a:avLst/>
          </a:prstGeom>
          <a:solidFill xmlns:a="http://schemas.openxmlformats.org/drawingml/2006/main">
            <a:srgbClr val="E27600"/>
          </a:solidFill>
          <a:ln xmlns:a="http://schemas.openxmlformats.org/drawingml/2006/main" w="0">
            <a:solidFill>
              <a:srgbClr val="E27600"/>
            </a:solid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03" name="">
            <a:extLst xmlns:a="http://schemas.openxmlformats.org/drawingml/2006/main">
              <a:ext uri="{FF2B5EF4-FFF2-40B4-BE49-F238E27FC236}">
                <a16:creationId xmlns:a16="http://schemas.microsoft.com/office/drawing/2014/main" id="{CD9F120B-1BF9-4557-85AA-8B040783E44D}"/>
              </a:ext>
            </a:extLst>
          </p:cNvPr>
          <p:cNvSpPr>
            <a:spLocks xmlns:a="http://schemas.openxmlformats.org/drawingml/2006/main" noGrp="1"/>
          </p:cNvSpPr>
          <p:nvPr/>
        </p:nvSpPr>
        <p:spPr>
          <a:xfrm xmlns:a="http://schemas.openxmlformats.org/drawingml/2006/main">
            <a:off x="10010775" y="3162300"/>
            <a:ext cx="15525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E27600"/>
                </a:solidFill>
                <a:latin typeface="Arial"/>
                <a:ea typeface="Arial"/>
                <a:cs typeface="Arial"/>
              </a:defRPr>
            </a:pPr>
            <a:r>
              <a:rPr sz="975" b="1">
                <a:solidFill>
                  <a:srgbClr val="E27600"/>
                </a:solidFill>
                <a:latin typeface="Arial"/>
                <a:ea typeface="Arial"/>
                <a:cs typeface="Arial"/>
              </a:rPr>
              <a:t>CENTER OPERATIONS</a:t>
            </a:r>
          </a:p>
        </p:txBody>
      </p:sp>
      <p:sp>
        <p:nvSpPr>
          <p:cNvPr id="104" name="">
            <a:extLst xmlns:a="http://schemas.openxmlformats.org/drawingml/2006/main">
              <a:ext uri="{FF2B5EF4-FFF2-40B4-BE49-F238E27FC236}">
                <a16:creationId xmlns:a16="http://schemas.microsoft.com/office/drawing/2014/main" id="{BFD78144-317A-4B6D-AAD4-59DF893B8E84}"/>
              </a:ext>
            </a:extLst>
          </p:cNvPr>
          <p:cNvSpPr>
            <a:spLocks xmlns:a="http://schemas.openxmlformats.org/drawingml/2006/main" noGrp="1"/>
          </p:cNvSpPr>
          <p:nvPr/>
        </p:nvSpPr>
        <p:spPr>
          <a:xfrm xmlns:a="http://schemas.openxmlformats.org/drawingml/2006/main">
            <a:off x="9620250" y="3562350"/>
            <a:ext cx="1924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Plan slots and assist bookings</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Call next, gate entry, weigh and inspect</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Accept or reject the lot</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DBT for registered, cash for assisted</a:t>
            </a:r>
          </a:p>
        </p:txBody>
      </p:sp>
      <p:sp>
        <p:nvSpPr>
          <p:cNvPr id="105" name="">
            <a:extLst xmlns:a="http://schemas.openxmlformats.org/drawingml/2006/main">
              <a:ext uri="{FF2B5EF4-FFF2-40B4-BE49-F238E27FC236}">
                <a16:creationId xmlns:a16="http://schemas.microsoft.com/office/drawing/2014/main" id="{C1EA0DF9-F8FF-4689-9CF8-7E1C33622739}"/>
              </a:ext>
            </a:extLst>
          </p:cNvPr>
          <p:cNvSpPr>
            <a:spLocks xmlns:a="http://schemas.openxmlformats.org/drawingml/2006/main" noGrp="1"/>
          </p:cNvSpPr>
          <p:nvPr/>
        </p:nvSpPr>
        <p:spPr>
          <a:xfrm xmlns:a="http://schemas.openxmlformats.org/drawingml/2006/main">
            <a:off x="9458325" y="4629150"/>
            <a:ext cx="2228850" cy="1428750"/>
          </a:xfrm>
          <a:prstGeom xmlns:a="http://schemas.openxmlformats.org/drawingml/2006/main" prst="roundRect">
            <a:avLst>
              <a:gd name="adj" fmla="val 5333"/>
            </a:avLst>
          </a:prstGeom>
          <a:solidFill xmlns:a="http://schemas.openxmlformats.org/drawingml/2006/main">
            <a:srgbClr val="EAF3FA"/>
          </a:solidFill>
          <a:ln xmlns:a="http://schemas.openxmlformats.org/drawingml/2006/main" w="11430">
            <a:solidFill>
              <a:srgbClr val="A8C9E2"/>
            </a:solidFill>
            <a:prstDash val="solid"/>
          </a:ln>
        </p:spPr>
      </p:sp>
      <p:sp>
        <p:nvSpPr>
          <p:cNvPr id="106" name="">
            <a:extLst xmlns:a="http://schemas.openxmlformats.org/drawingml/2006/main">
              <a:ext uri="{FF2B5EF4-FFF2-40B4-BE49-F238E27FC236}">
                <a16:creationId xmlns:a16="http://schemas.microsoft.com/office/drawing/2014/main" id="{E893E85D-7603-4A46-9188-98EB1870C4E5}"/>
              </a:ext>
            </a:extLst>
          </p:cNvPr>
          <p:cNvSpPr>
            <a:spLocks xmlns:a="http://schemas.openxmlformats.org/drawingml/2006/main" noGrp="1"/>
          </p:cNvSpPr>
          <p:nvPr/>
        </p:nvSpPr>
        <p:spPr>
          <a:xfrm xmlns:a="http://schemas.openxmlformats.org/drawingml/2006/main">
            <a:off x="9601200" y="4752975"/>
            <a:ext cx="323850" cy="323850"/>
          </a:xfrm>
          <a:prstGeom xmlns:a="http://schemas.openxmlformats.org/drawingml/2006/main" prst="ellipse">
            <a:avLst/>
          </a:prstGeom>
          <a:solidFill xmlns:a="http://schemas.openxmlformats.org/drawingml/2006/main">
            <a:srgbClr val="2467A1"/>
          </a:solidFill>
          <a:ln xmlns:a="http://schemas.openxmlformats.org/drawingml/2006/main" w="0">
            <a:solidFill>
              <a:srgbClr val="2467A1"/>
            </a:solid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7" name="">
            <a:extLst xmlns:a="http://schemas.openxmlformats.org/drawingml/2006/main">
              <a:ext uri="{FF2B5EF4-FFF2-40B4-BE49-F238E27FC236}">
                <a16:creationId xmlns:a16="http://schemas.microsoft.com/office/drawing/2014/main" id="{9D59A8F7-24A3-49FC-BC77-3A32C863EBE2}"/>
              </a:ext>
            </a:extLst>
          </p:cNvPr>
          <p:cNvSpPr>
            <a:spLocks xmlns:a="http://schemas.openxmlformats.org/drawingml/2006/main" noGrp="1"/>
          </p:cNvSpPr>
          <p:nvPr/>
        </p:nvSpPr>
        <p:spPr>
          <a:xfrm xmlns:a="http://schemas.openxmlformats.org/drawingml/2006/main">
            <a:off x="10010775" y="4743450"/>
            <a:ext cx="15525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2467A1"/>
                </a:solidFill>
                <a:latin typeface="Arial"/>
                <a:ea typeface="Arial"/>
                <a:cs typeface="Arial"/>
              </a:defRPr>
            </a:pPr>
            <a:r>
              <a:rPr sz="975" b="1">
                <a:solidFill>
                  <a:srgbClr val="2467A1"/>
                </a:solidFill>
                <a:latin typeface="Arial"/>
                <a:ea typeface="Arial"/>
                <a:cs typeface="Arial"/>
              </a:rPr>
              <a:t>ADMIN AND GOVERNANCE</a:t>
            </a:r>
          </a:p>
        </p:txBody>
      </p:sp>
      <p:sp>
        <p:nvSpPr>
          <p:cNvPr id="108" name="">
            <a:extLst xmlns:a="http://schemas.openxmlformats.org/drawingml/2006/main">
              <a:ext uri="{FF2B5EF4-FFF2-40B4-BE49-F238E27FC236}">
                <a16:creationId xmlns:a16="http://schemas.microsoft.com/office/drawing/2014/main" id="{64ED4596-7626-42B2-9F0B-521C10194F55}"/>
              </a:ext>
            </a:extLst>
          </p:cNvPr>
          <p:cNvSpPr>
            <a:spLocks xmlns:a="http://schemas.openxmlformats.org/drawingml/2006/main" noGrp="1"/>
          </p:cNvSpPr>
          <p:nvPr/>
        </p:nvSpPr>
        <p:spPr>
          <a:xfrm xmlns:a="http://schemas.openxmlformats.org/drawingml/2006/main">
            <a:off x="9620250" y="5143500"/>
            <a:ext cx="1924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64"/>
          </a:bodyPr>
          <a:lstStyle xmlns:a="http://schemas.openxmlformats.org/drawingml/2006/main"/>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Manage centers, MSP and commodities</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Forecast demand and rebalance capacity</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Review KPIs, audits and failed jobs</a:t>
            </a:r>
          </a:p>
          <a:p xmlns:a="http://schemas.openxmlformats.org/drawingml/2006/main">
            <a:pPr algn="l">
              <a:lnSpc>
                <a:spcPct val="102000"/>
              </a:lnSpc>
              <a:buNone/>
              <a:defRPr sz="907" b="0">
                <a:solidFill>
                  <a:srgbClr val="172433"/>
                </a:solidFill>
                <a:latin typeface="Arial"/>
                <a:ea typeface="Arial"/>
                <a:cs typeface="Arial"/>
              </a:defRPr>
            </a:pPr>
            <a:r>
              <a:rPr sz="907" b="0">
                <a:solidFill>
                  <a:srgbClr val="172433"/>
                </a:solidFill>
                <a:latin typeface="Arial"/>
                <a:ea typeface="Arial"/>
                <a:cs typeface="Arial"/>
              </a:rPr>
              <a:t>Handle consent withdrawal and erasure</a:t>
            </a:r>
          </a:p>
        </p:txBody>
      </p:sp>
      <p:sp>
        <p:nvSpPr>
          <p:cNvPr id="109" name="">
            <a:extLst xmlns:a="http://schemas.openxmlformats.org/drawingml/2006/main">
              <a:ext uri="{FF2B5EF4-FFF2-40B4-BE49-F238E27FC236}">
                <a16:creationId xmlns:a16="http://schemas.microsoft.com/office/drawing/2014/main" id="{D1F5CA41-EB08-4A4F-A420-45B9195D3818}"/>
              </a:ext>
            </a:extLst>
          </p:cNvPr>
          <p:cNvSpPr>
            <a:spLocks xmlns:a="http://schemas.openxmlformats.org/drawingml/2006/main" noGrp="1"/>
          </p:cNvSpPr>
          <p:nvPr/>
        </p:nvSpPr>
        <p:spPr>
          <a:xfrm xmlns:a="http://schemas.openxmlformats.org/drawingml/2006/main">
            <a:off x="400050" y="6553200"/>
            <a:ext cx="11391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65" b="0">
                <a:solidFill>
                  <a:srgbClr val="687A8B"/>
                </a:solidFill>
                <a:latin typeface="Arial"/>
                <a:ea typeface="Arial"/>
                <a:cs typeface="Arial"/>
              </a:defRPr>
            </a:pPr>
            <a:r>
              <a:rPr sz="765" b="0">
                <a:solidFill>
                  <a:srgbClr val="687A8B"/>
                </a:solidFill>
                <a:latin typeface="Arial"/>
                <a:ea typeface="Arial"/>
                <a:cs typeface="Arial"/>
              </a:rPr>
              <a:t>Government and communication integrations run as adapter-ready simulations in the SIH demo</a:t>
            </a:r>
          </a:p>
        </p:txBody>
      </p:sp>
    </p:spTree>
    <p:extLst>
      <p:ext uri="{BB962C8B-B14F-4D97-AF65-F5344CB8AC3E}">
        <p14:creationId xmlns:p14="http://schemas.microsoft.com/office/powerpoint/2010/main" val="19049517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2026-09-15T20:05:04.2360000Z</dcterms:created>
  <dcterms:modified xsi:type="dcterms:W3CDTF">2026-09-15T20:05:04.2360000Z</dcterms:modified>
</coreProperties>
</file>