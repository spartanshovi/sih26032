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e0c8e225ac42bc" /><Relationship Type="http://schemas.openxmlformats.org/officeDocument/2006/relationships/extended-properties" Target="/docProps/app.xml" Id="Rb490f83cb06d45b7" /><Relationship Type="http://schemas.openxmlformats.org/officeDocument/2006/relationships/officeDocument" Target="/ppt/presentation.xml" Id="R6d9074e46d1647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57d897009d42e1"/>
  </p:sldMasterIdLst>
  <p:notesMasterIdLst>
    <p:notesMasterId xmlns:r="http://schemas.openxmlformats.org/officeDocument/2006/relationships" r:id="R91ea69eae0944243"/>
  </p:notesMasterIdLst>
  <p:sldIdLst>
    <p:sldId xmlns:r="http://schemas.openxmlformats.org/officeDocument/2006/relationships" id="256" r:id="R0d0c8ff24b7241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1843baae7a4c32" /><Relationship Type="http://schemas.openxmlformats.org/officeDocument/2006/relationships/slideMaster" Target="/ppt/slideMasters/slideMaster1.xml" Id="R2a57d897009d42e1" /><Relationship Type="http://schemas.openxmlformats.org/officeDocument/2006/relationships/notesMaster" Target="/ppt/notesMasters/notesMaster1.xml" Id="R91ea69eae0944243" /><Relationship Type="http://schemas.openxmlformats.org/officeDocument/2006/relationships/presProps" Target="/ppt/presProps.xml" Id="Rab7464ad3c9b4d87" /><Relationship Type="http://schemas.openxmlformats.org/officeDocument/2006/relationships/tableStyles" Target="/ppt/tableStyles.xml" Id="R8e4ada3db5eb4975" /><Relationship Type="http://schemas.openxmlformats.org/officeDocument/2006/relationships/slide" Target="/ppt/slides/slide1.xml" Id="R0d0c8ff24b7241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9a5e0daf7240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cbc666d67c48de" /><Relationship Type="http://schemas.openxmlformats.org/officeDocument/2006/relationships/notesMaster" Target="/ppt/notesMasters/notesMaster1.xml" Id="R20fa9e0678634f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flow image represents the registered-farmer path. The added assisted path reflects the current code: center staff create the booking by phone, the farmer tracks by mobile or token without an account, and settlement is cash only because verified bank details were not collected.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architecture image is embedded from the user-supplied PNG. Version labels are visually masked. Identity, PFMS and translation labels are qualified as demo adapters or fallbacks rather than live government integrations.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docs/pitch_deck/FEATURE_VALIDATION_CURRENT_CODEBASE.md; apps/api/src/modules/booking/booking.controller.ts; apps/api/src/modules/queue/queue.service.ts; apps/api/src/modules/payments/payment-policy.ts; apps/web/src/screens/PublicBookingTracking.tsx; apps/web/src/screens/CenterDashboard.tsx.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 sources: /Users/shubham/Downloads/AnnSetu System Architecture Flowchart.png; /Users/shubham/Downloads/WhatsApp Image 2026-09-15 at 13.29.58.jpeg.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30327477c49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a5f7c8331247a5" /><Relationship Type="http://schemas.openxmlformats.org/officeDocument/2006/relationships/slideLayout" Target="/ppt/slideLayouts/slideLayout1.xml" Id="R1b02e2ba2c8c4b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2e2ba2c8c4b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b0ad3a0364b66" /><Relationship Type="http://schemas.openxmlformats.org/officeDocument/2006/relationships/image" Target="/ppt/media/image.png" Id="R409a6c930c3d49bb" /><Relationship Type="http://schemas.openxmlformats.org/officeDocument/2006/relationships/image" Target="/ppt/media/image.jpeg" Id="R1231485f6a0748e8" /><Relationship Type="http://schemas.openxmlformats.org/officeDocument/2006/relationships/image" Target="/ppt/media/image2.png" Id="Re69fcb866e8e49f0" /><Relationship Type="http://schemas.openxmlformats.org/officeDocument/2006/relationships/notesSlide" Target="/ppt/notesSlides/notesSlide1.xml" Id="R61ad54d29cca4b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2BB28D-DA7A-4250-B82C-7ABDE224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2875"/>
            <a:ext cx="1619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7A5A9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433"/>
                </a:solidFill>
                <a:latin typeface="Arial"/>
                <a:ea typeface="Arial"/>
                <a:cs typeface="Arial"/>
              </a:rPr>
              <a:t>AnnSetu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FA5DE-E95C-4749-8A26-93EADDF0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33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TECHNICAL APPROACH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a6c930c3d49bb"/>
          <a:stretch xmlns:a="http://schemas.openxmlformats.org/drawingml/2006/main"/>
        </p:blipFill>
        <p:spPr>
          <a:xfrm xmlns:a="http://schemas.openxmlformats.org/drawingml/2006/main">
            <a:off x="10002859" y="47625"/>
            <a:ext cx="1654132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D3EBB-5C7C-4A56-B17B-9FB40467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2143125" cy="5457825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93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4171A-6C57-4F13-8E2A-421A2EDE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971550"/>
            <a:ext cx="6543675" cy="5457825"/>
          </a:xfrm>
          <a:prstGeom xmlns:a="http://schemas.openxmlformats.org/drawingml/2006/main" prst="roundRect">
            <a:avLst>
              <a:gd name="adj" fmla="val 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C78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FEB7C-1B81-4AAD-A127-34B6BF60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71550"/>
            <a:ext cx="2438400" cy="5457825"/>
          </a:xfrm>
          <a:prstGeom xmlns:a="http://schemas.openxmlformats.org/drawingml/2006/main" prst="roundRect">
            <a:avLst>
              <a:gd name="adj" fmla="val 7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93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69B6F-617D-412E-BA9A-E0568028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20288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TECHNOLOGY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9591C-9EE3-485A-901E-DEF821A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28700"/>
            <a:ext cx="4267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SYSTEM FLOW  |  REGISTERED FARMER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7CF41-D3AF-4DDE-BAC7-D2EC70D1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28700"/>
            <a:ext cx="2324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IMPLEMENTATION METHODOLOGY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E016C-07C1-4B1B-BBBD-97744DE3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032C4-95BE-4923-8B21-4E052444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1922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2467A1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467A1"/>
                </a:solidFill>
                <a:latin typeface="Arial"/>
                <a:ea typeface="Arial"/>
                <a:cs typeface="Arial"/>
              </a:rPr>
              <a:t>Web experience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A197F-B5CE-4894-9BBB-6E7C611B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66875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Next.js, React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TanStack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964F6-A3B9-401A-84C9-C7B0C7D4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33600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7067F-F2CC-4CC9-8FCD-BF11959C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955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C66"/>
          </a:solidFill>
          <a:ln xmlns:a="http://schemas.openxmlformats.org/drawingml/2006/main" w="0">
            <a:solidFill>
              <a:srgbClr val="173C66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F9883-7DDA-4B02-8F96-59FDF20B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API and realtime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FDC1F-4B22-413D-B70B-ED2FB511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NestJS, REST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Socket.IO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1767D-D88A-49F0-B8CF-4AC3AB49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943225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4F234-FB8D-4396-A4BA-0AB23A0E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44657-65F8-40CC-AB84-C57B82C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3847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267A42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67A42"/>
                </a:solidFill>
                <a:latin typeface="Arial"/>
                <a:ea typeface="Arial"/>
                <a:cs typeface="Arial"/>
              </a:rPr>
              <a:t>Data and jobs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AFB88-4175-42DA-AFFD-5C674D1C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PostgreSQL, Prisma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Redis, BullMQ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F1B35-0152-49C6-85CA-CB80D649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52850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621076-73BE-4D2F-B3BF-5A9ACEF1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00"/>
          </a:solidFill>
          <a:ln xmlns:a="http://schemas.openxmlformats.org/drawingml/2006/main" w="0">
            <a:solidFill>
              <a:srgbClr val="E27600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9AF29-275A-43F9-ACB4-8FF4E31A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E27600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E27600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7DDF3-1AFB-4630-957B-F54E0EBB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JWT, RBAC, Argon2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Zod, audit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C5160-B4FC-4351-97B6-4BE93D6C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62475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042DF-08CE-4025-8D9D-3E700D6C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28B"/>
          </a:solidFill>
          <a:ln xmlns:a="http://schemas.openxmlformats.org/drawingml/2006/main" w="0">
            <a:solidFill>
              <a:srgbClr val="15828B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F8794-B5D9-4876-A473-1D0338BA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5772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5828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5828B"/>
                </a:solidFill>
                <a:latin typeface="Arial"/>
                <a:ea typeface="Arial"/>
                <a:cs typeface="Arial"/>
              </a:rPr>
              <a:t>Inclusive access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C58AF-0F79-4C99-957B-13243653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PWA, SMS, USSD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IVR and TTS simulation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B99B3F-4F8E-40A8-91F0-D6416980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372100"/>
            <a:ext cx="189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7E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5672C7-C4D5-4FAB-9E04-8F85509D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340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7A5"/>
          </a:solidFill>
          <a:ln xmlns:a="http://schemas.openxmlformats.org/drawingml/2006/main" w="0">
            <a:solidFill>
              <a:srgbClr val="6247A5"/>
            </a:solidFill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0F4F19-388C-4175-94D1-96720D6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6247A5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6247A5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55C020-B946-4214-9BEE-1A48CFC0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pnpm monorepo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15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Docker Compose, CI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1485f6a0748e8"/>
          <a:srcRect xmlns:a="http://schemas.openxmlformats.org/drawingml/2006/main" l="0" t="34512" r="0" b="34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0350" y="1381125"/>
            <a:ext cx="6286500" cy="109537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A05A84-7004-4BDA-8070-3002C21A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43175"/>
            <a:ext cx="6134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11430">
            <a:solidFill>
              <a:srgbClr val="E9AE6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72FB4F-01D3-4133-AD76-AA85ABEA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90800"/>
            <a:ext cx="586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3" b="1">
                <a:solidFill>
                  <a:srgbClr val="8A4D00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8A4D00"/>
                </a:solidFill>
                <a:latin typeface="Arial"/>
                <a:ea typeface="Arial"/>
                <a:cs typeface="Arial"/>
              </a:rPr>
              <a:t>ASSISTED PATH   Center books by phone   Track with mobile or token   Cash settlement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B7E152-8CF5-4B65-8711-C2E26B77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2667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lIns="47625" tIns="0" rIns="476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fcb866e8e49f0"/>
          <a:stretch xmlns:a="http://schemas.openxmlformats.org/drawingml/2006/main"/>
        </p:blipFill>
        <p:spPr>
          <a:xfrm xmlns:a="http://schemas.openxmlformats.org/drawingml/2006/main">
            <a:off x="3151085" y="3171825"/>
            <a:ext cx="5585031" cy="31432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21D76F-8809-4483-97B7-247590C1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76600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solidFill>
              <a:srgbClr val="FAF9F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0DE915-71AB-42CD-A99F-4ED9D67B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Current pnpm monorepo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21D5FB-BDE6-431B-A221-6B3BA43B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10191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3AE84C-2E26-402C-BA0C-66E760B2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1019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Next.js PWA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77827E-AB40-45EF-851F-3B159963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243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E72D24-9BC1-4835-8497-1E7D3D80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243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8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58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React and TanStack Query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67B87F-A92B-4B95-9AD7-5FCF5228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624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C36A59-5236-499D-98AF-28C9CF97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624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3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NestJS platform core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811C98-A0C0-4203-8349-ECD4B748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753100"/>
            <a:ext cx="1162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solidFill>
              <a:srgbClr val="EAF6F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39B163-D756-4BF9-BED9-4A46C4FE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753100"/>
            <a:ext cx="1162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0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90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PostgreSQL + Prisma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94A68B-5538-43E5-BD97-05CD8CFA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53100"/>
            <a:ext cx="914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7EF"/>
          </a:solidFill>
          <a:ln xmlns:a="http://schemas.openxmlformats.org/drawingml/2006/main" w="0">
            <a:solidFill>
              <a:srgbClr val="ECF7E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49B840-B66A-4EA8-B498-46B888F7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53100"/>
            <a:ext cx="91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3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Redis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B98970-C9AF-458C-8ADB-2A5E7D96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53100"/>
            <a:ext cx="1085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A"/>
          </a:solidFill>
          <a:ln xmlns:a="http://schemas.openxmlformats.org/drawingml/2006/main" w="0">
            <a:solidFill>
              <a:srgbClr val="F1EDF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CBAF8D-78CF-4051-96B2-3A61701B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53100"/>
            <a:ext cx="1085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3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BullMQ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44F4E0-697D-48F5-BA60-77F0D4A8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8096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0">
            <a:solidFill>
              <a:srgbClr val="FFF7E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88F407-7014-4685-9CEB-6CC85505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80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Identity demo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adapter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E0268D-A75B-40A9-A9CB-3C11373F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8096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0">
            <a:solidFill>
              <a:srgbClr val="FFF7E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ED61A1-4FC2-450A-B1B8-7BD26E53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809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PFMS payment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mock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547DE8-F43B-4285-9294-FFB1CA83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80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0">
            <a:solidFill>
              <a:srgbClr val="FFF7E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4371AE-CA9B-4297-87D2-23BC8052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Translation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45" b="1">
                <a:solidFill>
                  <a:srgbClr val="173C66"/>
                </a:solidFill>
                <a:latin typeface="Arial"/>
                <a:ea typeface="Arial"/>
                <a:cs typeface="Arial"/>
              </a:defRPr>
            </a:pPr>
            <a:r>
              <a:rPr sz="645" b="1">
                <a:solidFill>
                  <a:srgbClr val="173C66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125D0C-2401-41E8-ADB0-84EE4B48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466850"/>
            <a:ext cx="2228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7EE"/>
          </a:solidFill>
          <a:ln xmlns:a="http://schemas.openxmlformats.org/drawingml/2006/main" w="11430">
            <a:solidFill>
              <a:srgbClr val="A6CFB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11B8E1-4A94-4961-B5D5-585070D1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90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42"/>
          </a:solidFill>
          <a:ln xmlns:a="http://schemas.openxmlformats.org/drawingml/2006/main" w="0">
            <a:solidFill>
              <a:srgbClr val="267A4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201B39-EA43-419E-AC69-0CD93470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581150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67A4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42"/>
                </a:solidFill>
                <a:latin typeface="Arial"/>
                <a:ea typeface="Arial"/>
                <a:cs typeface="Arial"/>
              </a:rPr>
              <a:t>FARMER ACCESS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883FAF-FEDA-48DE-9284-8EF3F4E4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Login or assisted booking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Choose center and slot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Track by account, mobile or token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View queue, lot and payment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21A092-C77C-4A68-8F08-FE0CF16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48000"/>
            <a:ext cx="2228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3E3"/>
          </a:solidFill>
          <a:ln xmlns:a="http://schemas.openxmlformats.org/drawingml/2006/main" w="11430">
            <a:solidFill>
              <a:srgbClr val="F0BD7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C26F25-053F-456C-853A-8779ABD9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00"/>
          </a:solidFill>
          <a:ln xmlns:a="http://schemas.openxmlformats.org/drawingml/2006/main" w="0">
            <a:solidFill>
              <a:srgbClr val="E276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F2D563-2585-4900-AE9C-ECD5DEC5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162300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E276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27600"/>
                </a:solidFill>
                <a:latin typeface="Arial"/>
                <a:ea typeface="Arial"/>
                <a:cs typeface="Arial"/>
              </a:rPr>
              <a:t>CENTER OPERATIONS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D7D771-892D-41DD-967D-935CE16E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Plan slots and assist bookings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Call next, gate entry, weigh and inspect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Accept or reject the lot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DBT for registered, cash for assisted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E61196-2C86-4AE6-9A9A-295D9D96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629150"/>
            <a:ext cx="2228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1430">
            <a:solidFill>
              <a:srgbClr val="A8C9E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E56F07-EE59-4375-92AB-DC8C586A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52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7A1"/>
          </a:solidFill>
          <a:ln xmlns:a="http://schemas.openxmlformats.org/drawingml/2006/main" w="0">
            <a:solidFill>
              <a:srgbClr val="2467A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2E6874-4178-4E57-991D-F1505F2C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743450"/>
            <a:ext cx="155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67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67A1"/>
                </a:solidFill>
                <a:latin typeface="Arial"/>
                <a:ea typeface="Arial"/>
                <a:cs typeface="Arial"/>
              </a:rPr>
              <a:t>ADMIN AND GOVERNANCE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B46C5C-6E24-4185-99EC-A6965981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Manage centers, MSP and commodities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Forecast demand and rebalance capacity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Review KPIs, audits and failed jobs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907" b="0">
                <a:solidFill>
                  <a:srgbClr val="172433"/>
                </a:solidFill>
                <a:latin typeface="Arial"/>
                <a:ea typeface="Arial"/>
                <a:cs typeface="Arial"/>
              </a:defRPr>
            </a:pPr>
            <a:r>
              <a:rPr sz="907" b="0">
                <a:solidFill>
                  <a:srgbClr val="172433"/>
                </a:solidFill>
                <a:latin typeface="Arial"/>
                <a:ea typeface="Arial"/>
                <a:cs typeface="Arial"/>
              </a:rPr>
              <a:t>Handle consent withdrawal and erasure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86D6AE-C227-4F20-BE15-EE5608B1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11391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65" b="0">
                <a:solidFill>
                  <a:srgbClr val="687A8B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687A8B"/>
                </a:solidFill>
                <a:latin typeface="Arial"/>
                <a:ea typeface="Arial"/>
                <a:cs typeface="Arial"/>
              </a:rPr>
              <a:t>Government and communication integrations use adapter-ready simulations in the SIH demo</a:t>
            </a:r>
          </a:p>
        </p:txBody>
      </p:sp>
    </p:spTree>
    <p:extLst>
      <p:ext uri="{BB962C8B-B14F-4D97-AF65-F5344CB8AC3E}">
        <p14:creationId xmlns:p14="http://schemas.microsoft.com/office/powerpoint/2010/main" val="1003693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2026-09-15T20:17:11.5960000Z</dcterms:created>
  <dcterms:modified xsi:type="dcterms:W3CDTF">2026-09-15T20:17:11.5960000Z</dcterms:modified>
</coreProperties>
</file>