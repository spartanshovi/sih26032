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1e9cd02fe45b8" /><Relationship Type="http://schemas.openxmlformats.org/officeDocument/2006/relationships/extended-properties" Target="/docProps/app.xml" Id="R028a5f851a2d41c8" /><Relationship Type="http://schemas.openxmlformats.org/officeDocument/2006/relationships/officeDocument" Target="/ppt/presentation.xml" Id="R396e50ee9ede45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809db69c44d5c"/>
  </p:sldMasterIdLst>
  <p:notesMasterIdLst>
    <p:notesMasterId xmlns:r="http://schemas.openxmlformats.org/officeDocument/2006/relationships" r:id="R46024d5386154566"/>
  </p:notesMasterIdLst>
  <p:sldIdLst>
    <p:sldId xmlns:r="http://schemas.openxmlformats.org/officeDocument/2006/relationships" id="256" r:id="R4944b7353cf948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f2c012ced4ba3" /><Relationship Type="http://schemas.openxmlformats.org/officeDocument/2006/relationships/slideMaster" Target="/ppt/slideMasters/slideMaster1.xml" Id="Rbe5809db69c44d5c" /><Relationship Type="http://schemas.openxmlformats.org/officeDocument/2006/relationships/notesMaster" Target="/ppt/notesMasters/notesMaster1.xml" Id="R46024d5386154566" /><Relationship Type="http://schemas.openxmlformats.org/officeDocument/2006/relationships/presProps" Target="/ppt/presProps.xml" Id="R11317517fd854735" /><Relationship Type="http://schemas.openxmlformats.org/officeDocument/2006/relationships/tableStyles" Target="/ppt/tableStyles.xml" Id="R321f76c1b97f4dcd" /><Relationship Type="http://schemas.openxmlformats.org/officeDocument/2006/relationships/slide" Target="/ppt/slides/slide1.xml" Id="R4944b7353cf9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009fdd6304e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d596bbf7c441bc" /><Relationship Type="http://schemas.openxmlformats.org/officeDocument/2006/relationships/notesMaster" Target="/ppt/notesMasters/notesMaster1.xml" Id="Raf69881bc19d4a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flow image represents the registered-farmer path. The added assisted path reflects the current code: center staff create the booking by phone, the farmer tracks by mobile or token without an account, and settlement is cash only because verified bank details were not collected.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architecture image is embedded from the user-supplied PNG. Version labels are visually masked. Identity, PFMS and translation labels are qualified as demo adapters or fallbacks rather than live government integrations.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docs/pitch_deck/FEATURE_VALIDATION_CURRENT_CODEBASE.md; apps/api/src/modules/booking/booking.controller.ts; apps/api/src/modules/queue/queue.service.ts; apps/api/src/modules/payments/payment-policy.ts; apps/web/src/screens/PublicBookingTracking.tsx; apps/web/src/screens/CenterDashboard.tsx.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sources: /Users/shubham/Downloads/AnnSetu System Architecture Flowchart.png; /Users/shubham/Downloads/WhatsApp Image 2026-09-15 at 13.29.58.jpeg.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c3aba163742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4a9cc093dd4b8f" /><Relationship Type="http://schemas.openxmlformats.org/officeDocument/2006/relationships/slideLayout" Target="/ppt/slideLayouts/slideLayout1.xml" Id="R8757e60e256f40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57e60e256f40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f98f8344644e2" /><Relationship Type="http://schemas.openxmlformats.org/officeDocument/2006/relationships/image" Target="/ppt/media/image.png" Id="R0c14bc0222694c63" /><Relationship Type="http://schemas.openxmlformats.org/officeDocument/2006/relationships/image" Target="/ppt/media/image.jpeg" Id="R3ac58450354142d3" /><Relationship Type="http://schemas.openxmlformats.org/officeDocument/2006/relationships/image" Target="/ppt/media/image2.png" Id="Rebe02ddb71ba4800" /><Relationship Type="http://schemas.openxmlformats.org/officeDocument/2006/relationships/notesSlide" Target="/ppt/notesSlides/notesSlide1.xml" Id="R17d33cf48b5d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A31022-15CB-49BB-BFB5-C2E9A6D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2875"/>
            <a:ext cx="1619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A5A9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3"/>
                </a:solidFill>
                <a:latin typeface="Arial"/>
                <a:ea typeface="Arial"/>
                <a:cs typeface="Arial"/>
              </a:rPr>
              <a:t>AnnSetu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76393-DF28-4AEF-B45B-6D26CD64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4bc0222694c63"/>
          <a:stretch xmlns:a="http://schemas.openxmlformats.org/drawingml/2006/main"/>
        </p:blipFill>
        <p:spPr>
          <a:xfrm xmlns:a="http://schemas.openxmlformats.org/drawingml/2006/main">
            <a:off x="10002859" y="47625"/>
            <a:ext cx="1654132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0F23D-E567-4049-966A-AD901594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2143125" cy="5457825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93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67E36-4398-48D7-9ACC-C5238C92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971550"/>
            <a:ext cx="6543675" cy="5457825"/>
          </a:xfrm>
          <a:prstGeom xmlns:a="http://schemas.openxmlformats.org/drawingml/2006/main" prst="roundRect">
            <a:avLst>
              <a:gd name="adj" fmla="val 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78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8F8E9-7246-4AE4-986E-AD08908B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71550"/>
            <a:ext cx="2438400" cy="5457825"/>
          </a:xfrm>
          <a:prstGeom xmlns:a="http://schemas.openxmlformats.org/drawingml/2006/main" prst="roundRect">
            <a:avLst>
              <a:gd name="adj" fmla="val 7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93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33380-97A6-45EC-93F5-A1B36A4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20288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TECHNOLOGY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BD65B-0E07-4643-9D61-96B43E44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28700"/>
            <a:ext cx="426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SYSTEM FLOW  |  REGISTERED FARMER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CB11E-E4AF-4E4D-A6CA-DB95518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28700"/>
            <a:ext cx="2324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IMPLEMENTATION 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91B02-A1DF-4066-8290-C7A6C37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AFE3-95EF-4B09-9CAF-038831B5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192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2467A1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467A1"/>
                </a:solidFill>
                <a:latin typeface="Arial"/>
                <a:ea typeface="Arial"/>
                <a:cs typeface="Arial"/>
              </a:rPr>
              <a:t>Web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230A-14BD-46A6-A5F9-20C9078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668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Next.js, React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TanStack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89443-0773-4656-8070-07E62F84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336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3CA5B-6474-4C44-AF3F-B426273B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955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B8B20-C548-4238-9CF1-E8E2D637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API and realtime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EDFE6-CD69-49C8-9A68-2E337706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NestJS, REST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Socket.IO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A29E2-72CE-4229-A7CA-EE396468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43225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9EF1F-BF20-4941-879F-62C0A08C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70AF4-219C-45D6-AD0B-D8BEDD9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267A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67A42"/>
                </a:solidFill>
                <a:latin typeface="Arial"/>
                <a:ea typeface="Arial"/>
                <a:cs typeface="Arial"/>
              </a:rPr>
              <a:t>Data and jobs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CEE79-1EFB-45E8-A411-BB45F91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PostgreSQL, Prisma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Redis, BullMQ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A1E88-9F98-4337-BE56-CF6860A0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5285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0CE73-2523-49B6-BBF1-F62ACDA5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00"/>
          </a:solidFill>
          <a:ln xmlns:a="http://schemas.openxmlformats.org/drawingml/2006/main" w="0">
            <a:solidFill>
              <a:srgbClr val="E27600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92C32-021F-45F4-94B4-8263E997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E2760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E27600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05B45-0619-4446-8C2A-F2B7D898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JWT, RBAC, Argon2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Zod, audit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1EDE6-2304-42EB-945F-2E7D230C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62475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E8DDB-643F-4D31-A3BF-E24D5DC2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28B"/>
          </a:solidFill>
          <a:ln xmlns:a="http://schemas.openxmlformats.org/drawingml/2006/main" w="0">
            <a:solidFill>
              <a:srgbClr val="15828B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52037-E8FE-4B7F-9E54-F5CE9D9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5828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5828B"/>
                </a:solidFill>
                <a:latin typeface="Arial"/>
                <a:ea typeface="Arial"/>
                <a:cs typeface="Arial"/>
              </a:rPr>
              <a:t>Inclusive access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9F786-7B92-4387-A3AA-69DDE5BA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PWA, SMS, USSD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IVR and TTS simulation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3835E-2923-40DB-9F57-8284D49A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721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74808-3F1D-4866-BFE5-CA570CD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340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7A5"/>
          </a:solidFill>
          <a:ln xmlns:a="http://schemas.openxmlformats.org/drawingml/2006/main" w="0">
            <a:solidFill>
              <a:srgbClr val="6247A5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DC50C-FE67-4C8D-A989-A5E7CDC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6247A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6247A5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81770D-8411-49A1-9B13-677EAEE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pnpm monorepo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Docker Compose, CI</a:t>
            </a:r>
          </a:p>
        </p:txBody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58450354142d3"/>
          <a:srcRect xmlns:a="http://schemas.openxmlformats.org/drawingml/2006/main" l="0" t="34512" r="0" b="3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350" y="1381125"/>
            <a:ext cx="6286500" cy="1095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254E2F-B7EF-485F-8D7E-D99FD7DF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613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E9AE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F0BED2-1616-410B-AA36-8CCE5B36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586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3" b="1">
                <a:solidFill>
                  <a:srgbClr val="8A4D00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8A4D00"/>
                </a:solidFill>
                <a:latin typeface="Arial"/>
                <a:ea typeface="Arial"/>
                <a:cs typeface="Arial"/>
              </a:rPr>
              <a:t>ASSISTED PATH   Center books by phone   Track with mobile or token   Cash settlement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71FB87-A9B9-4596-9FC4-51E3D74A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667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02ddb71ba4800"/>
          <a:stretch xmlns:a="http://schemas.openxmlformats.org/drawingml/2006/main"/>
        </p:blipFill>
        <p:spPr>
          <a:xfrm xmlns:a="http://schemas.openxmlformats.org/drawingml/2006/main">
            <a:off x="3151085" y="3171825"/>
            <a:ext cx="5585031" cy="31432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3BED0-16CD-41AE-B6DB-BBCDAC32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7660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50C700-1B8E-4956-AC94-A83992EA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10191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C658EC-F2EA-4AD3-81E6-3CEB07F4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1019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Next.js PWA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B43D60-2B6F-44F1-BB91-307B8BEB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243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2B1372-A264-4B1F-AF75-FC48C18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243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58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React and TanStack Query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D586B3-1F59-44E6-8503-4E7D530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3DBF96-3791-48EC-8FD9-1B070B4F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3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NestJS platform 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485178-B848-4BD4-AE25-83F965A5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626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420347-BF43-449F-988A-4B6268DD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626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PostgreSQL + Prisma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3F8757-6C09-49E4-82D1-A439D86F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626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EF"/>
          </a:solidFill>
          <a:ln xmlns:a="http://schemas.openxmlformats.org/drawingml/2006/main" w="0">
            <a:solidFill>
              <a:srgbClr val="ECF7E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5B03BB-4986-44FE-90DF-603EDBCF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62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3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F58E88-DFF3-49AD-A350-155099E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6262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A"/>
          </a:solidFill>
          <a:ln xmlns:a="http://schemas.openxmlformats.org/drawingml/2006/main" w="0">
            <a:solidFill>
              <a:srgbClr val="F1EDF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6AAD2E-6D93-431B-9ADA-CD78B268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626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3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BullMQ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D58539-6D67-4FEB-A4A9-A5B7D97A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809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879482-1190-4AAF-BFC9-1D989842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80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Identity demo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0664DD-0E8E-45F3-BCA0-94171273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809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E70BD9-59F7-4AF3-8D99-E0076C1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80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PFMS payment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mock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0B0924-AFF4-4394-8B83-B75C52CE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80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D70FE8-5968-49C6-9E5A-DDA9D4A9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Translation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E4B41A-278D-4F94-83E1-45464D2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46685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7EE"/>
          </a:solidFill>
          <a:ln xmlns:a="http://schemas.openxmlformats.org/drawingml/2006/main" w="11430">
            <a:solidFill>
              <a:srgbClr val="A6CFB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CF74E3-2A84-49AC-8C0F-A83102A2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67CF26-5B43-4698-9123-2225ECFB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58115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67A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42"/>
                </a:solidFill>
                <a:latin typeface="Arial"/>
                <a:ea typeface="Arial"/>
                <a:cs typeface="Arial"/>
              </a:rPr>
              <a:t>FARMER ACCESS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75F76A-D536-4AD1-A5AF-73636257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Login or assisted booking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Choose center and slot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Track by account, mobile or token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View queue, lot and payment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7D8ED7-32F3-4D1D-8C10-6C269ECC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4800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F0BD7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B70F79-FF70-4FD9-986B-9D899C12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00"/>
          </a:solidFill>
          <a:ln xmlns:a="http://schemas.openxmlformats.org/drawingml/2006/main" w="0">
            <a:solidFill>
              <a:srgbClr val="E276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0AABA9-D67B-45E7-8DE1-5B1C2E47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6230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27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7600"/>
                </a:solidFill>
                <a:latin typeface="Arial"/>
                <a:ea typeface="Arial"/>
                <a:cs typeface="Arial"/>
              </a:rPr>
              <a:t>CENTER OPERATIONS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43E360-DDA7-4A4C-BDEF-C2DC406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Plan slots and assist bookings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Call next, gate entry, weigh and inspect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Accept or reject the lot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DBT for registered, cash for assisted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A75D14-FA8C-47DB-8C11-199BC4B0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2915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A8C9E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75751B-7617-47C6-A488-01540EC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52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7BBA62-2053-4ED8-8DD9-880B5E1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74345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67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67A1"/>
                </a:solidFill>
                <a:latin typeface="Arial"/>
                <a:ea typeface="Arial"/>
                <a:cs typeface="Arial"/>
              </a:rPr>
              <a:t>ADMIN AND GOVERNANCE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D54983-A544-4A8F-83E8-066E4B7D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Manage centers, MSP and commodities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Forecast demand and rebalance capacity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Review KPIs, audits and failed jobs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Handle consent withdrawal and erasure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0409D3-4BD0-4DA7-A429-D34E8E48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11391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65" b="0">
                <a:solidFill>
                  <a:srgbClr val="687A8B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687A8B"/>
                </a:solidFill>
                <a:latin typeface="Arial"/>
                <a:ea typeface="Arial"/>
                <a:cs typeface="Arial"/>
              </a:rPr>
              <a:t>Government and communication integrations use adapter-ready simulations in the SIH demo</a:t>
            </a:r>
          </a:p>
        </p:txBody>
      </p:sp>
    </p:spTree>
    <p:extLst>
      <p:ext uri="{BB962C8B-B14F-4D97-AF65-F5344CB8AC3E}">
        <p14:creationId xmlns:p14="http://schemas.microsoft.com/office/powerpoint/2010/main" val="1627534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2026-09-15T20:15:18.6410000Z</dcterms:created>
  <dcterms:modified xsi:type="dcterms:W3CDTF">2026-09-15T20:15:18.6410000Z</dcterms:modified>
</coreProperties>
</file>